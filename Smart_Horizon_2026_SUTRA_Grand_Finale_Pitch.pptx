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6"/>
  </p:notesMasterIdLst>
  <p:sldIdLst>
    <p:sldId id="270" r:id="rId2"/>
    <p:sldId id="263" r:id="rId3"/>
    <p:sldId id="275" r:id="rId4"/>
    <p:sldId id="264" r:id="rId5"/>
    <p:sldId id="276" r:id="rId6"/>
    <p:sldId id="274" r:id="rId7"/>
    <p:sldId id="265" r:id="rId8"/>
    <p:sldId id="266" r:id="rId9"/>
    <p:sldId id="267" r:id="rId10"/>
    <p:sldId id="271" r:id="rId11"/>
    <p:sldId id="272" r:id="rId12"/>
    <p:sldId id="273" r:id="rId13"/>
    <p:sldId id="269" r:id="rId14"/>
    <p:sldId id="268" r:id="rId15"/>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497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30" autoAdjust="0"/>
    <p:restoredTop sz="94641" autoAdjust="0"/>
  </p:normalViewPr>
  <p:slideViewPr>
    <p:cSldViewPr>
      <p:cViewPr varScale="1">
        <p:scale>
          <a:sx n="92" d="100"/>
          <a:sy n="92" d="100"/>
        </p:scale>
        <p:origin x="672" y="78"/>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C596F83-55EB-44FB-A6B6-44ED4DFC9222}" type="datetimeFigureOut">
              <a:rPr lang="en-US" smtClean="0"/>
              <a:pPr/>
              <a:t>8/31/2026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3C1A974-C3F6-467E-A719-7F0890CE6299}"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B8D8F02-B8A6-4879-A35B-185A64064778}" type="datetime3">
              <a:rPr lang="en-US" smtClean="0"/>
              <a:t>31 August 2026</a:t>
            </a:fld>
            <a:endParaRPr lang="en-US"/>
          </a:p>
        </p:txBody>
      </p:sp>
      <p:sp>
        <p:nvSpPr>
          <p:cNvPr id="5" name="Footer Placeholder 4"/>
          <p:cNvSpPr>
            <a:spLocks noGrp="1"/>
          </p:cNvSpPr>
          <p:nvPr>
            <p:ph type="ftr" sz="quarter" idx="11"/>
          </p:nvPr>
        </p:nvSpPr>
        <p:spPr/>
        <p:txBody>
          <a:bodyPr/>
          <a:lstStyle/>
          <a:p>
            <a:r>
              <a:rPr lang="en-US" smtClean="0"/>
              <a:t>Smart Horizon 2026: 48 Hour International Hackathon</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pic>
        <p:nvPicPr>
          <p:cNvPr id="7" name="Image 0" descr="preencoded.png"/>
          <p:cNvPicPr>
            <a:picLocks noChangeAspect="1"/>
          </p:cNvPicPr>
          <p:nvPr userDrawn="1"/>
        </p:nvPicPr>
        <p:blipFill rotWithShape="1">
          <a:blip r:embed="rId2" cstate="print"/>
          <a:srcRect l="8776" r="12248" b="5973"/>
          <a:stretch/>
        </p:blipFill>
        <p:spPr>
          <a:xfrm>
            <a:off x="791617" y="168741"/>
            <a:ext cx="1189583" cy="498009"/>
          </a:xfrm>
          <a:prstGeom prst="rect">
            <a:avLst/>
          </a:prstGeom>
        </p:spPr>
      </p:pic>
      <p:pic>
        <p:nvPicPr>
          <p:cNvPr id="8" name="Image 1" descr="preencoded.png"/>
          <p:cNvPicPr>
            <a:picLocks noChangeAspect="1"/>
          </p:cNvPicPr>
          <p:nvPr userDrawn="1"/>
        </p:nvPicPr>
        <p:blipFill rotWithShape="1">
          <a:blip r:embed="rId3" cstate="print"/>
          <a:srcRect l="21941" t="15700" r="20440" b="5258"/>
          <a:stretch/>
        </p:blipFill>
        <p:spPr>
          <a:xfrm>
            <a:off x="3255791" y="209549"/>
            <a:ext cx="457200" cy="457201"/>
          </a:xfrm>
          <a:prstGeom prst="rect">
            <a:avLst/>
          </a:prstGeom>
        </p:spPr>
      </p:pic>
      <p:pic>
        <p:nvPicPr>
          <p:cNvPr id="9" name="Image 2" descr="preencoded.png"/>
          <p:cNvPicPr>
            <a:picLocks noChangeAspect="1"/>
          </p:cNvPicPr>
          <p:nvPr userDrawn="1"/>
        </p:nvPicPr>
        <p:blipFill>
          <a:blip r:embed="rId4" cstate="print"/>
          <a:stretch>
            <a:fillRect/>
          </a:stretch>
        </p:blipFill>
        <p:spPr>
          <a:xfrm>
            <a:off x="4987582" y="168741"/>
            <a:ext cx="655032" cy="491772"/>
          </a:xfrm>
          <a:prstGeom prst="rect">
            <a:avLst/>
          </a:prstGeom>
        </p:spPr>
      </p:pic>
      <p:pic>
        <p:nvPicPr>
          <p:cNvPr id="10" name="Image 3" descr="preencoded.png"/>
          <p:cNvPicPr>
            <a:picLocks noChangeAspect="1"/>
          </p:cNvPicPr>
          <p:nvPr userDrawn="1"/>
        </p:nvPicPr>
        <p:blipFill>
          <a:blip r:embed="rId5" cstate="print"/>
          <a:stretch>
            <a:fillRect/>
          </a:stretch>
        </p:blipFill>
        <p:spPr>
          <a:xfrm>
            <a:off x="6917205" y="168741"/>
            <a:ext cx="985905" cy="49113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56C8645-0AAE-46EA-9B87-9DCAAC54DBF6}" type="datetime3">
              <a:rPr lang="en-US" smtClean="0"/>
              <a:t>31 August 2026</a:t>
            </a:fld>
            <a:endParaRPr lang="en-US"/>
          </a:p>
        </p:txBody>
      </p:sp>
      <p:sp>
        <p:nvSpPr>
          <p:cNvPr id="5" name="Footer Placeholder 4"/>
          <p:cNvSpPr>
            <a:spLocks noGrp="1"/>
          </p:cNvSpPr>
          <p:nvPr>
            <p:ph type="ftr" sz="quarter" idx="11"/>
          </p:nvPr>
        </p:nvSpPr>
        <p:spPr/>
        <p:txBody>
          <a:bodyPr/>
          <a:lstStyle/>
          <a:p>
            <a:r>
              <a:rPr lang="en-US" smtClean="0"/>
              <a:t>Smart Horizon 2026: 48 Hour International Hackathon</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pic>
        <p:nvPicPr>
          <p:cNvPr id="7" name="Image 0" descr="preencoded.png"/>
          <p:cNvPicPr>
            <a:picLocks noChangeAspect="1"/>
          </p:cNvPicPr>
          <p:nvPr userDrawn="1"/>
        </p:nvPicPr>
        <p:blipFill>
          <a:blip r:embed="rId2" cstate="print"/>
          <a:stretch>
            <a:fillRect/>
          </a:stretch>
        </p:blipFill>
        <p:spPr>
          <a:xfrm>
            <a:off x="7543800" y="205979"/>
            <a:ext cx="1778000" cy="5334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A1CD488-A5AA-4A9C-8A0D-81D20A346185}" type="datetime3">
              <a:rPr lang="en-US" smtClean="0"/>
              <a:t>31 August 2026</a:t>
            </a:fld>
            <a:endParaRPr lang="en-US"/>
          </a:p>
        </p:txBody>
      </p:sp>
      <p:sp>
        <p:nvSpPr>
          <p:cNvPr id="5" name="Footer Placeholder 4"/>
          <p:cNvSpPr>
            <a:spLocks noGrp="1"/>
          </p:cNvSpPr>
          <p:nvPr>
            <p:ph type="ftr" sz="quarter" idx="11"/>
          </p:nvPr>
        </p:nvSpPr>
        <p:spPr/>
        <p:txBody>
          <a:bodyPr/>
          <a:lstStyle/>
          <a:p>
            <a:r>
              <a:rPr lang="en-US" smtClean="0"/>
              <a:t>Smart Horizon 2026: 48 Hour International Hackathon</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2BAF2CFD-23DE-40AF-8834-AA971663E69D}" type="datetime3">
              <a:rPr lang="en-US" smtClean="0"/>
              <a:t>31 August 2026</a:t>
            </a:fld>
            <a:endParaRPr lang="en-US"/>
          </a:p>
        </p:txBody>
      </p:sp>
      <p:sp>
        <p:nvSpPr>
          <p:cNvPr id="6" name="Footer Placeholder 5"/>
          <p:cNvSpPr>
            <a:spLocks noGrp="1"/>
          </p:cNvSpPr>
          <p:nvPr>
            <p:ph type="ftr" sz="quarter" idx="11"/>
          </p:nvPr>
        </p:nvSpPr>
        <p:spPr/>
        <p:txBody>
          <a:bodyPr/>
          <a:lstStyle/>
          <a:p>
            <a:r>
              <a:rPr lang="en-US" smtClean="0"/>
              <a:t>Smart Horizon 2026: 48 Hour International Hackathon</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FB614F7-7E8B-4795-932F-CCC9EB7C1F92}" type="datetime3">
              <a:rPr lang="en-US" smtClean="0"/>
              <a:t>31 August 2026</a:t>
            </a:fld>
            <a:endParaRPr lang="en-US"/>
          </a:p>
        </p:txBody>
      </p:sp>
      <p:sp>
        <p:nvSpPr>
          <p:cNvPr id="8" name="Footer Placeholder 7"/>
          <p:cNvSpPr>
            <a:spLocks noGrp="1"/>
          </p:cNvSpPr>
          <p:nvPr>
            <p:ph type="ftr" sz="quarter" idx="11"/>
          </p:nvPr>
        </p:nvSpPr>
        <p:spPr/>
        <p:txBody>
          <a:bodyPr/>
          <a:lstStyle/>
          <a:p>
            <a:r>
              <a:rPr lang="en-US" smtClean="0"/>
              <a:t>Smart Horizon 2026: 48 Hour International Hackathon</a:t>
            </a:r>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E7776F2C-25F0-46B7-90CC-F0982DBB91DA}" type="datetime3">
              <a:rPr lang="en-US" smtClean="0"/>
              <a:t>31 August 2026</a:t>
            </a:fld>
            <a:endParaRPr lang="en-US"/>
          </a:p>
        </p:txBody>
      </p:sp>
      <p:sp>
        <p:nvSpPr>
          <p:cNvPr id="4" name="Footer Placeholder 3"/>
          <p:cNvSpPr>
            <a:spLocks noGrp="1"/>
          </p:cNvSpPr>
          <p:nvPr>
            <p:ph type="ftr" sz="quarter" idx="11"/>
          </p:nvPr>
        </p:nvSpPr>
        <p:spPr/>
        <p:txBody>
          <a:bodyPr/>
          <a:lstStyle/>
          <a:p>
            <a:r>
              <a:rPr lang="en-US" smtClean="0"/>
              <a:t>Smart Horizon 2026: 48 Hour International Hackathon</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pic>
        <p:nvPicPr>
          <p:cNvPr id="6" name="Image 0" descr="preencoded.png"/>
          <p:cNvPicPr>
            <a:picLocks noChangeAspect="1"/>
          </p:cNvPicPr>
          <p:nvPr userDrawn="1"/>
        </p:nvPicPr>
        <p:blipFill>
          <a:blip r:embed="rId2" cstate="print"/>
          <a:stretch>
            <a:fillRect/>
          </a:stretch>
        </p:blipFill>
        <p:spPr>
          <a:xfrm>
            <a:off x="7543800" y="205979"/>
            <a:ext cx="1778000" cy="53340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9EC80B4-98CE-4B86-8BB8-F1A726332D0B}" type="datetime3">
              <a:rPr lang="en-US" smtClean="0"/>
              <a:t>31 August 2026</a:t>
            </a:fld>
            <a:endParaRPr lang="en-US"/>
          </a:p>
        </p:txBody>
      </p:sp>
      <p:sp>
        <p:nvSpPr>
          <p:cNvPr id="3" name="Footer Placeholder 2"/>
          <p:cNvSpPr>
            <a:spLocks noGrp="1"/>
          </p:cNvSpPr>
          <p:nvPr>
            <p:ph type="ftr" sz="quarter" idx="11"/>
          </p:nvPr>
        </p:nvSpPr>
        <p:spPr/>
        <p:txBody>
          <a:bodyPr/>
          <a:lstStyle/>
          <a:p>
            <a:r>
              <a:rPr lang="en-US" smtClean="0"/>
              <a:t>Smart Horizon 2026: 48 Hour International Hackathon</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pic>
        <p:nvPicPr>
          <p:cNvPr id="6" name="Image 0" descr="preencoded.png"/>
          <p:cNvPicPr>
            <a:picLocks noChangeAspect="1"/>
          </p:cNvPicPr>
          <p:nvPr userDrawn="1"/>
        </p:nvPicPr>
        <p:blipFill>
          <a:blip r:embed="rId2" cstate="print"/>
          <a:stretch>
            <a:fillRect/>
          </a:stretch>
        </p:blipFill>
        <p:spPr>
          <a:xfrm>
            <a:off x="7543800" y="205979"/>
            <a:ext cx="1778000" cy="53340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73D1ED4-391A-4B7E-8EFC-1A7FD912E90A}" type="datetime3">
              <a:rPr lang="en-US" smtClean="0"/>
              <a:t>31 August 2026</a:t>
            </a:fld>
            <a:endParaRPr lang="en-US"/>
          </a:p>
        </p:txBody>
      </p:sp>
      <p:sp>
        <p:nvSpPr>
          <p:cNvPr id="6" name="Footer Placeholder 5"/>
          <p:cNvSpPr>
            <a:spLocks noGrp="1"/>
          </p:cNvSpPr>
          <p:nvPr>
            <p:ph type="ftr" sz="quarter" idx="11"/>
          </p:nvPr>
        </p:nvSpPr>
        <p:spPr/>
        <p:txBody>
          <a:bodyPr/>
          <a:lstStyle/>
          <a:p>
            <a:r>
              <a:rPr lang="en-US" smtClean="0"/>
              <a:t>Smart Horizon 2026: 48 Hour International Hackathon</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42A3ADC-2D85-4C99-BC97-116048DC93F0}" type="datetime3">
              <a:rPr lang="en-US" smtClean="0"/>
              <a:t>31 August 2026</a:t>
            </a:fld>
            <a:endParaRPr lang="en-US"/>
          </a:p>
        </p:txBody>
      </p:sp>
      <p:sp>
        <p:nvSpPr>
          <p:cNvPr id="6" name="Footer Placeholder 5"/>
          <p:cNvSpPr>
            <a:spLocks noGrp="1"/>
          </p:cNvSpPr>
          <p:nvPr>
            <p:ph type="ftr" sz="quarter" idx="11"/>
          </p:nvPr>
        </p:nvSpPr>
        <p:spPr/>
        <p:txBody>
          <a:bodyPr/>
          <a:lstStyle/>
          <a:p>
            <a:r>
              <a:rPr lang="en-US" smtClean="0"/>
              <a:t>Smart Horizon 2026: 48 Hour International Hackathon</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244C271-B0CA-4176-BE6B-23E60CA82DEC}" type="datetime3">
              <a:rPr lang="en-US" smtClean="0"/>
              <a:t>31 August 2026</a:t>
            </a:fld>
            <a:endParaRPr lang="en-US"/>
          </a:p>
        </p:txBody>
      </p:sp>
      <p:sp>
        <p:nvSpPr>
          <p:cNvPr id="5" name="Footer Placeholder 4"/>
          <p:cNvSpPr>
            <a:spLocks noGrp="1"/>
          </p:cNvSpPr>
          <p:nvPr>
            <p:ph type="ftr" sz="quarter" idx="11"/>
          </p:nvPr>
        </p:nvSpPr>
        <p:spPr/>
        <p:txBody>
          <a:bodyPr/>
          <a:lstStyle/>
          <a:p>
            <a:r>
              <a:rPr lang="en-US" smtClean="0"/>
              <a:t>Smart Horizon 2026: 48 Hour International Hackathon</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5821DAB-4D50-444A-82CD-4417F18812DB}" type="datetime3">
              <a:rPr lang="en-US" smtClean="0"/>
              <a:t>31 August 2026</a:t>
            </a:fld>
            <a:endParaRPr lang="en-US"/>
          </a:p>
        </p:txBody>
      </p:sp>
      <p:sp>
        <p:nvSpPr>
          <p:cNvPr id="5" name="Footer Placeholder 4"/>
          <p:cNvSpPr>
            <a:spLocks noGrp="1"/>
          </p:cNvSpPr>
          <p:nvPr>
            <p:ph type="ftr" sz="quarter" idx="11"/>
          </p:nvPr>
        </p:nvSpPr>
        <p:spPr/>
        <p:txBody>
          <a:bodyPr/>
          <a:lstStyle/>
          <a:p>
            <a:r>
              <a:rPr lang="en-US" smtClean="0"/>
              <a:t>Smart Horizon 2026: 48 Hour International Hackathon</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AB391C04-3B30-4C70-8E83-D2356E1EFC87}" type="datetime3">
              <a:rPr lang="en-US" smtClean="0"/>
              <a:t>31 August 2026</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Smart Horizon 2026: 48 Hour International Hackathon</a:t>
            </a:r>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0"/>
          <p:cNvSpPr/>
          <p:nvPr/>
        </p:nvSpPr>
        <p:spPr>
          <a:xfrm>
            <a:off x="2579492" y="990156"/>
            <a:ext cx="1883941" cy="117277"/>
          </a:xfrm>
          <a:prstGeom prst="rect">
            <a:avLst/>
          </a:prstGeom>
          <a:noFill/>
          <a:ln/>
        </p:spPr>
        <p:txBody>
          <a:bodyPr wrap="none" lIns="0" tIns="0" rIns="0" bIns="0" rtlCol="0" anchor="t"/>
          <a:lstStyle/>
          <a:p>
            <a:pPr defTabSz="640048">
              <a:lnSpc>
                <a:spcPts val="1015"/>
              </a:lnSpc>
            </a:pPr>
            <a:endParaRPr lang="en-US" sz="800" dirty="0">
              <a:solidFill>
                <a:prstClr val="black"/>
              </a:solidFill>
            </a:endParaRPr>
          </a:p>
        </p:txBody>
      </p:sp>
      <p:sp>
        <p:nvSpPr>
          <p:cNvPr id="6" name="Text 1"/>
          <p:cNvSpPr/>
          <p:nvPr/>
        </p:nvSpPr>
        <p:spPr>
          <a:xfrm>
            <a:off x="4694711" y="962398"/>
            <a:ext cx="1883941" cy="117277"/>
          </a:xfrm>
          <a:prstGeom prst="rect">
            <a:avLst/>
          </a:prstGeom>
          <a:noFill/>
          <a:ln/>
        </p:spPr>
        <p:txBody>
          <a:bodyPr wrap="none" lIns="0" tIns="0" rIns="0" bIns="0" rtlCol="0" anchor="t"/>
          <a:lstStyle/>
          <a:p>
            <a:pPr defTabSz="640048">
              <a:lnSpc>
                <a:spcPts val="1015"/>
              </a:lnSpc>
            </a:pPr>
            <a:endParaRPr lang="en-US" sz="800" dirty="0">
              <a:solidFill>
                <a:prstClr val="black"/>
              </a:solidFill>
            </a:endParaRPr>
          </a:p>
        </p:txBody>
      </p:sp>
      <p:sp>
        <p:nvSpPr>
          <p:cNvPr id="8" name="Text 3"/>
          <p:cNvSpPr/>
          <p:nvPr/>
        </p:nvSpPr>
        <p:spPr>
          <a:xfrm>
            <a:off x="457200" y="678583"/>
            <a:ext cx="8215461" cy="719156"/>
          </a:xfrm>
          <a:prstGeom prst="rect">
            <a:avLst/>
          </a:prstGeom>
          <a:noFill/>
          <a:ln/>
        </p:spPr>
        <p:txBody>
          <a:bodyPr wrap="square" lIns="0" tIns="0" rIns="0" bIns="0" rtlCol="0" anchor="t"/>
          <a:lstStyle/>
          <a:p>
            <a:pPr defTabSz="640048"/>
            <a:r>
              <a:rPr lang="en-US" sz="2800" b="1" dirty="0">
                <a:solidFill>
                  <a:srgbClr val="1F497D"/>
                </a:solidFill>
                <a:latin typeface="Times New Roman" panose="02020603050405020304" pitchFamily="18" charset="0"/>
                <a:ea typeface="Barlow Bold" pitchFamily="34" charset="-122"/>
                <a:cs typeface="Times New Roman" panose="02020603050405020304" pitchFamily="18" charset="0"/>
              </a:rPr>
              <a:t>Smart Horizon </a:t>
            </a:r>
            <a:r>
              <a:rPr lang="en-US" sz="2800" b="1" dirty="0" smtClean="0">
                <a:solidFill>
                  <a:srgbClr val="1F497D"/>
                </a:solidFill>
                <a:latin typeface="Times New Roman" panose="02020603050405020304" pitchFamily="18" charset="0"/>
                <a:ea typeface="Barlow Bold" pitchFamily="34" charset="-122"/>
                <a:cs typeface="Times New Roman" panose="02020603050405020304" pitchFamily="18" charset="0"/>
              </a:rPr>
              <a:t>2026:</a:t>
            </a:r>
          </a:p>
          <a:p>
            <a:pPr defTabSz="640048"/>
            <a:r>
              <a:rPr lang="en-US" sz="2800" b="1" dirty="0" smtClean="0">
                <a:solidFill>
                  <a:srgbClr val="1F497D"/>
                </a:solidFill>
                <a:latin typeface="Times New Roman" panose="02020603050405020304" pitchFamily="18" charset="0"/>
                <a:ea typeface="Barlow Bold" pitchFamily="34" charset="-122"/>
                <a:cs typeface="Times New Roman" panose="02020603050405020304" pitchFamily="18" charset="0"/>
              </a:rPr>
              <a:t>48-Hour </a:t>
            </a:r>
            <a:r>
              <a:rPr lang="en-US" sz="2800" b="1" dirty="0">
                <a:solidFill>
                  <a:srgbClr val="1F497D"/>
                </a:solidFill>
                <a:latin typeface="Times New Roman" panose="02020603050405020304" pitchFamily="18" charset="0"/>
                <a:ea typeface="Barlow Bold" pitchFamily="34" charset="-122"/>
                <a:cs typeface="Times New Roman" panose="02020603050405020304" pitchFamily="18" charset="0"/>
              </a:rPr>
              <a:t>International Hackathon</a:t>
            </a:r>
            <a:endParaRPr lang="en-US" sz="2800" dirty="0">
              <a:solidFill>
                <a:srgbClr val="1F497D"/>
              </a:solidFill>
              <a:latin typeface="Times New Roman" panose="02020603050405020304" pitchFamily="18" charset="0"/>
              <a:cs typeface="Times New Roman" panose="02020603050405020304" pitchFamily="18" charset="0"/>
            </a:endParaRPr>
          </a:p>
        </p:txBody>
      </p:sp>
      <p:grpSp>
        <p:nvGrpSpPr>
          <p:cNvPr id="43" name="Group 42"/>
          <p:cNvGrpSpPr/>
          <p:nvPr/>
        </p:nvGrpSpPr>
        <p:grpSpPr>
          <a:xfrm>
            <a:off x="388849" y="1906581"/>
            <a:ext cx="8352161" cy="613711"/>
            <a:chOff x="300707" y="2006663"/>
            <a:chExt cx="8352161" cy="613711"/>
          </a:xfrm>
        </p:grpSpPr>
        <p:sp>
          <p:nvSpPr>
            <p:cNvPr id="9" name="Shape 4"/>
            <p:cNvSpPr/>
            <p:nvPr/>
          </p:nvSpPr>
          <p:spPr>
            <a:xfrm>
              <a:off x="300707" y="2006663"/>
              <a:ext cx="2702644" cy="594867"/>
            </a:xfrm>
            <a:prstGeom prst="roundRect">
              <a:avLst>
                <a:gd name="adj" fmla="val 480095"/>
              </a:avLst>
            </a:prstGeom>
            <a:solidFill>
              <a:schemeClr val="tx2"/>
            </a:solidFill>
            <a:ln w="7620">
              <a:solidFill>
                <a:srgbClr val="BACFDD"/>
              </a:solidFill>
              <a:prstDash val="solid"/>
            </a:ln>
          </p:spPr>
        </p:sp>
        <p:sp>
          <p:nvSpPr>
            <p:cNvPr id="10" name="Text 5"/>
            <p:cNvSpPr/>
            <p:nvPr/>
          </p:nvSpPr>
          <p:spPr>
            <a:xfrm>
              <a:off x="1305749" y="2085211"/>
              <a:ext cx="692560" cy="152698"/>
            </a:xfrm>
            <a:prstGeom prst="rect">
              <a:avLst/>
            </a:prstGeom>
            <a:noFill/>
            <a:ln/>
          </p:spPr>
          <p:txBody>
            <a:bodyPr wrap="none" lIns="0" tIns="0" rIns="0" bIns="0" rtlCol="0" anchor="t"/>
            <a:lstStyle/>
            <a:p>
              <a:pPr defTabSz="640048">
                <a:lnSpc>
                  <a:spcPts val="1330"/>
                </a:lnSpc>
              </a:pPr>
              <a:r>
                <a:rPr lang="en-US" sz="1000" b="1" dirty="0" smtClean="0">
                  <a:solidFill>
                    <a:schemeClr val="bg1"/>
                  </a:solidFill>
                  <a:latin typeface="Times New Roman" panose="02020603050405020304" pitchFamily="18" charset="0"/>
                  <a:ea typeface="Barlow Bold" pitchFamily="34" charset="-122"/>
                  <a:cs typeface="Times New Roman" panose="02020603050405020304" pitchFamily="18" charset="0"/>
                </a:rPr>
                <a:t>Event Date</a:t>
              </a:r>
              <a:endParaRPr lang="en-US" sz="1000" dirty="0">
                <a:solidFill>
                  <a:schemeClr val="bg1"/>
                </a:solidFill>
                <a:latin typeface="Times New Roman" panose="02020603050405020304" pitchFamily="18" charset="0"/>
                <a:cs typeface="Times New Roman" panose="02020603050405020304" pitchFamily="18" charset="0"/>
              </a:endParaRPr>
            </a:p>
          </p:txBody>
        </p:sp>
        <p:sp>
          <p:nvSpPr>
            <p:cNvPr id="11" name="Text 6"/>
            <p:cNvSpPr/>
            <p:nvPr/>
          </p:nvSpPr>
          <p:spPr>
            <a:xfrm>
              <a:off x="393501" y="2404121"/>
              <a:ext cx="2517056" cy="117277"/>
            </a:xfrm>
            <a:prstGeom prst="rect">
              <a:avLst/>
            </a:prstGeom>
            <a:noFill/>
            <a:ln/>
          </p:spPr>
          <p:txBody>
            <a:bodyPr wrap="none" lIns="0" tIns="0" rIns="0" bIns="0" rtlCol="0" anchor="t"/>
            <a:lstStyle/>
            <a:p>
              <a:pPr algn="ctr" defTabSz="640048">
                <a:lnSpc>
                  <a:spcPts val="1015"/>
                </a:lnSpc>
              </a:pPr>
              <a:r>
                <a:rPr lang="en-US" sz="1200" b="1" dirty="0">
                  <a:solidFill>
                    <a:schemeClr val="bg1"/>
                  </a:solidFill>
                  <a:latin typeface="Times New Roman" panose="02020603050405020304" pitchFamily="18" charset="0"/>
                  <a:ea typeface="Montserrat" pitchFamily="34" charset="-122"/>
                  <a:cs typeface="Times New Roman" panose="02020603050405020304" pitchFamily="18" charset="0"/>
                </a:rPr>
                <a:t>September 3rd, 4th &amp; 5th, 2026</a:t>
              </a:r>
              <a:endParaRPr lang="en-US" sz="1200" b="1" dirty="0">
                <a:solidFill>
                  <a:schemeClr val="bg1"/>
                </a:solidFill>
                <a:latin typeface="Times New Roman" panose="02020603050405020304" pitchFamily="18" charset="0"/>
                <a:cs typeface="Times New Roman" panose="02020603050405020304" pitchFamily="18" charset="0"/>
              </a:endParaRPr>
            </a:p>
          </p:txBody>
        </p:sp>
        <p:sp>
          <p:nvSpPr>
            <p:cNvPr id="12" name="Shape 7"/>
            <p:cNvSpPr/>
            <p:nvPr/>
          </p:nvSpPr>
          <p:spPr>
            <a:xfrm>
              <a:off x="3037247" y="2019013"/>
              <a:ext cx="2912901" cy="594866"/>
            </a:xfrm>
            <a:prstGeom prst="roundRect">
              <a:avLst>
                <a:gd name="adj" fmla="val 480095"/>
              </a:avLst>
            </a:prstGeom>
            <a:solidFill>
              <a:schemeClr val="tx2"/>
            </a:solidFill>
            <a:ln w="7620">
              <a:solidFill>
                <a:srgbClr val="BACFDD"/>
              </a:solidFill>
              <a:prstDash val="solid"/>
            </a:ln>
          </p:spPr>
        </p:sp>
        <p:sp>
          <p:nvSpPr>
            <p:cNvPr id="13" name="Text 8"/>
            <p:cNvSpPr/>
            <p:nvPr/>
          </p:nvSpPr>
          <p:spPr>
            <a:xfrm>
              <a:off x="4362463" y="2084402"/>
              <a:ext cx="404933" cy="152698"/>
            </a:xfrm>
            <a:prstGeom prst="rect">
              <a:avLst/>
            </a:prstGeom>
            <a:noFill/>
            <a:ln/>
          </p:spPr>
          <p:txBody>
            <a:bodyPr wrap="none" lIns="0" tIns="0" rIns="0" bIns="0" rtlCol="0" anchor="t"/>
            <a:lstStyle/>
            <a:p>
              <a:pPr defTabSz="640048">
                <a:lnSpc>
                  <a:spcPts val="1330"/>
                </a:lnSpc>
              </a:pPr>
              <a:r>
                <a:rPr lang="en-US" sz="1000" b="1" dirty="0">
                  <a:solidFill>
                    <a:schemeClr val="bg1"/>
                  </a:solidFill>
                  <a:latin typeface="Times New Roman" panose="02020603050405020304" pitchFamily="18" charset="0"/>
                  <a:ea typeface="Barlow Bold" pitchFamily="34" charset="-122"/>
                  <a:cs typeface="Times New Roman" panose="02020603050405020304" pitchFamily="18" charset="0"/>
                </a:rPr>
                <a:t>Venue</a:t>
              </a:r>
            </a:p>
          </p:txBody>
        </p:sp>
        <p:sp>
          <p:nvSpPr>
            <p:cNvPr id="14" name="Text 9"/>
            <p:cNvSpPr/>
            <p:nvPr/>
          </p:nvSpPr>
          <p:spPr>
            <a:xfrm>
              <a:off x="3235169" y="2340071"/>
              <a:ext cx="2517056" cy="248353"/>
            </a:xfrm>
            <a:prstGeom prst="rect">
              <a:avLst/>
            </a:prstGeom>
            <a:noFill/>
            <a:ln/>
          </p:spPr>
          <p:txBody>
            <a:bodyPr wrap="none" lIns="0" tIns="0" rIns="0" bIns="0" rtlCol="0" anchor="t"/>
            <a:lstStyle/>
            <a:p>
              <a:pPr algn="ctr" defTabSz="640048"/>
              <a:r>
                <a:rPr lang="en-US" sz="1200" b="1" dirty="0">
                  <a:solidFill>
                    <a:schemeClr val="bg1"/>
                  </a:solidFill>
                  <a:latin typeface="Times New Roman" panose="02020603050405020304" pitchFamily="18" charset="0"/>
                  <a:ea typeface="Montserrat" pitchFamily="34" charset="-122"/>
                  <a:cs typeface="Times New Roman" panose="02020603050405020304" pitchFamily="18" charset="0"/>
                </a:rPr>
                <a:t>New Horizon Knowledge </a:t>
              </a:r>
              <a:r>
                <a:rPr lang="en-US" sz="1200" b="1" dirty="0" smtClean="0">
                  <a:solidFill>
                    <a:schemeClr val="bg1"/>
                  </a:solidFill>
                  <a:latin typeface="Times New Roman" panose="02020603050405020304" pitchFamily="18" charset="0"/>
                  <a:ea typeface="Montserrat" pitchFamily="34" charset="-122"/>
                  <a:cs typeface="Times New Roman" panose="02020603050405020304" pitchFamily="18" charset="0"/>
                </a:rPr>
                <a:t>Park, Bengaluru</a:t>
              </a:r>
              <a:endParaRPr lang="en-US" sz="1200" b="1" dirty="0">
                <a:solidFill>
                  <a:schemeClr val="bg1"/>
                </a:solidFill>
                <a:latin typeface="Times New Roman" panose="02020603050405020304" pitchFamily="18" charset="0"/>
                <a:ea typeface="Montserrat" pitchFamily="34" charset="-122"/>
                <a:cs typeface="Times New Roman" panose="02020603050405020304" pitchFamily="18" charset="0"/>
              </a:endParaRPr>
            </a:p>
          </p:txBody>
        </p:sp>
        <p:sp>
          <p:nvSpPr>
            <p:cNvPr id="15" name="Shape 10"/>
            <p:cNvSpPr/>
            <p:nvPr/>
          </p:nvSpPr>
          <p:spPr>
            <a:xfrm>
              <a:off x="5950149" y="2025508"/>
              <a:ext cx="2702719" cy="594866"/>
            </a:xfrm>
            <a:prstGeom prst="roundRect">
              <a:avLst>
                <a:gd name="adj" fmla="val 480095"/>
              </a:avLst>
            </a:prstGeom>
            <a:solidFill>
              <a:schemeClr val="tx2"/>
            </a:solidFill>
            <a:ln w="7620">
              <a:solidFill>
                <a:srgbClr val="BACFDD"/>
              </a:solidFill>
              <a:prstDash val="solid"/>
            </a:ln>
          </p:spPr>
        </p:sp>
        <p:sp>
          <p:nvSpPr>
            <p:cNvPr id="16" name="Text 11"/>
            <p:cNvSpPr/>
            <p:nvPr/>
          </p:nvSpPr>
          <p:spPr>
            <a:xfrm>
              <a:off x="6947116" y="2084402"/>
              <a:ext cx="753281" cy="152698"/>
            </a:xfrm>
            <a:prstGeom prst="rect">
              <a:avLst/>
            </a:prstGeom>
            <a:noFill/>
            <a:ln/>
          </p:spPr>
          <p:txBody>
            <a:bodyPr wrap="none" lIns="0" tIns="0" rIns="0" bIns="0" rtlCol="0" anchor="t"/>
            <a:lstStyle/>
            <a:p>
              <a:pPr defTabSz="640048">
                <a:lnSpc>
                  <a:spcPts val="1330"/>
                </a:lnSpc>
              </a:pPr>
              <a:r>
                <a:rPr lang="en-US" sz="1000" b="1" dirty="0">
                  <a:solidFill>
                    <a:schemeClr val="bg1"/>
                  </a:solidFill>
                  <a:latin typeface="Times New Roman" panose="02020603050405020304" pitchFamily="18" charset="0"/>
                  <a:ea typeface="Barlow Bold" pitchFamily="34" charset="-122"/>
                  <a:cs typeface="Times New Roman" panose="02020603050405020304" pitchFamily="18" charset="0"/>
                </a:rPr>
                <a:t>Host Institute</a:t>
              </a:r>
            </a:p>
          </p:txBody>
        </p:sp>
        <p:sp>
          <p:nvSpPr>
            <p:cNvPr id="17" name="Text 12"/>
            <p:cNvSpPr/>
            <p:nvPr/>
          </p:nvSpPr>
          <p:spPr>
            <a:xfrm>
              <a:off x="6031630" y="2378278"/>
              <a:ext cx="2584252" cy="168962"/>
            </a:xfrm>
            <a:prstGeom prst="rect">
              <a:avLst/>
            </a:prstGeom>
            <a:noFill/>
            <a:ln/>
          </p:spPr>
          <p:txBody>
            <a:bodyPr wrap="none" lIns="0" tIns="0" rIns="0" bIns="0" rtlCol="0" anchor="t"/>
            <a:lstStyle/>
            <a:p>
              <a:pPr algn="ctr" defTabSz="640048">
                <a:lnSpc>
                  <a:spcPts val="1015"/>
                </a:lnSpc>
              </a:pPr>
              <a:r>
                <a:rPr lang="en-US" sz="1200" b="1" dirty="0">
                  <a:solidFill>
                    <a:schemeClr val="bg1"/>
                  </a:solidFill>
                  <a:latin typeface="Times New Roman" panose="02020603050405020304" pitchFamily="18" charset="0"/>
                  <a:ea typeface="Montserrat" pitchFamily="34" charset="-122"/>
                  <a:cs typeface="Times New Roman" panose="02020603050405020304" pitchFamily="18" charset="0"/>
                </a:rPr>
                <a:t>New Horizon College of Engineering</a:t>
              </a:r>
            </a:p>
          </p:txBody>
        </p:sp>
      </p:grpSp>
      <p:sp>
        <p:nvSpPr>
          <p:cNvPr id="18" name="Text 13"/>
          <p:cNvSpPr/>
          <p:nvPr/>
        </p:nvSpPr>
        <p:spPr>
          <a:xfrm>
            <a:off x="457200" y="1635598"/>
            <a:ext cx="6034683" cy="257921"/>
          </a:xfrm>
          <a:prstGeom prst="rect">
            <a:avLst/>
          </a:prstGeom>
          <a:noFill/>
          <a:ln/>
        </p:spPr>
        <p:txBody>
          <a:bodyPr wrap="none" lIns="0" tIns="0" rIns="0" bIns="0" rtlCol="0" anchor="t"/>
          <a:lstStyle/>
          <a:p>
            <a:pPr defTabSz="640048">
              <a:lnSpc>
                <a:spcPts val="1330"/>
              </a:lnSpc>
            </a:pPr>
            <a:r>
              <a:rPr lang="en-US" sz="1200" b="1" dirty="0">
                <a:solidFill>
                  <a:srgbClr val="2E3C4E"/>
                </a:solidFill>
                <a:latin typeface="Times New Roman" panose="02020603050405020304" pitchFamily="18" charset="0"/>
                <a:ea typeface="Barlow Bold" pitchFamily="34" charset="-122"/>
                <a:cs typeface="Times New Roman" panose="02020603050405020304" pitchFamily="18" charset="0"/>
              </a:rPr>
              <a:t>Organized by: Dept. of Artificial Intelligence and Machine Learning &amp; Dept. of Computer Science and Engineering</a:t>
            </a:r>
            <a:endParaRPr lang="en-US" sz="1200" dirty="0">
              <a:solidFill>
                <a:prstClr val="black"/>
              </a:solidFill>
              <a:latin typeface="Times New Roman" panose="02020603050405020304" pitchFamily="18" charset="0"/>
              <a:cs typeface="Times New Roman" panose="02020603050405020304" pitchFamily="18" charset="0"/>
            </a:endParaRPr>
          </a:p>
        </p:txBody>
      </p:sp>
      <p:sp>
        <p:nvSpPr>
          <p:cNvPr id="37" name="Text 13"/>
          <p:cNvSpPr/>
          <p:nvPr/>
        </p:nvSpPr>
        <p:spPr>
          <a:xfrm>
            <a:off x="395776" y="2687407"/>
            <a:ext cx="7989312" cy="411426"/>
          </a:xfrm>
          <a:prstGeom prst="rect">
            <a:avLst/>
          </a:prstGeom>
          <a:noFill/>
          <a:ln/>
        </p:spPr>
        <p:txBody>
          <a:bodyPr wrap="none" lIns="0" tIns="0" rIns="0" bIns="0" rtlCol="0" anchor="t"/>
          <a:lstStyle/>
          <a:p>
            <a:pPr defTabSz="640048">
              <a:lnSpc>
                <a:spcPts val="1330"/>
              </a:lnSpc>
            </a:pPr>
            <a:r>
              <a:rPr b="1" sz="1300">
                <a:solidFill>
                  <a:srgbClr val="0E7490"/>
                </a:solidFill>
                <a:latin typeface="Times New Roman"/>
              </a:rPr>
              <a:t>Title: </a:t>
            </a:r>
            <a:r>
              <a:rPr b="1" sz="1300">
                <a:solidFill>
                  <a:srgbClr val="0F172A"/>
                </a:solidFill>
                <a:latin typeface="Times New Roman"/>
              </a:rPr>
              <a:t>Project SUTRA — Swarm Unified Tactical Reconnaissance Architecture for GPS-Denied &amp; RF-Jammed Disaster Search &amp; Rescue</a:t>
            </a:r>
            <a:endParaRPr lang="en-US" sz="1600" b="1" dirty="0">
              <a:solidFill>
                <a:prstClr val="black"/>
              </a:solidFill>
              <a:latin typeface="Times New Roman" panose="02020603050405020304" pitchFamily="18" charset="0"/>
              <a:cs typeface="Times New Roman" panose="02020603050405020304" pitchFamily="18" charset="0"/>
            </a:endParaRPr>
          </a:p>
        </p:txBody>
      </p:sp>
      <p:graphicFrame>
        <p:nvGraphicFramePr>
          <p:cNvPr id="39" name="Table 38"/>
          <p:cNvGraphicFramePr>
            <a:graphicFrameLocks noGrp="1"/>
          </p:cNvGraphicFramePr>
          <p:nvPr>
            <p:extLst>
              <p:ext uri="{D42A27DB-BD31-4B8C-83A1-F6EECF244321}">
                <p14:modId xmlns:p14="http://schemas.microsoft.com/office/powerpoint/2010/main" val="2894971548"/>
              </p:ext>
            </p:extLst>
          </p:nvPr>
        </p:nvGraphicFramePr>
        <p:xfrm>
          <a:off x="1056671" y="3257550"/>
          <a:ext cx="3326834" cy="1828800"/>
        </p:xfrm>
        <a:graphic>
          <a:graphicData uri="http://schemas.openxmlformats.org/drawingml/2006/table">
            <a:tbl>
              <a:tblPr firstRow="1" bandRow="1">
                <a:tableStyleId>{5940675A-B579-460E-94D1-54222C63F5DA}</a:tableStyleId>
              </a:tblPr>
              <a:tblGrid>
                <a:gridCol w="3326834">
                  <a:extLst>
                    <a:ext uri="{9D8B030D-6E8A-4147-A177-3AD203B41FA5}">
                      <a16:colId xmlns:a16="http://schemas.microsoft.com/office/drawing/2014/main" val="3154602362"/>
                    </a:ext>
                  </a:extLst>
                </a:gridCol>
              </a:tblGrid>
              <a:tr h="252755">
                <a:tc>
                  <a:txBody>
                    <a:bodyPr/>
                    <a:lstStyle/>
                    <a:p>
                      <a:r>
                        <a:rPr sz="1050" b="1">
                          <a:solidFill>
                            <a:srgbClr val="0F172A"/>
                          </a:solidFill>
                          <a:latin typeface="Times New Roman"/>
                        </a:rPr>
                        <a:t>Team Members &amp; Roles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solidFill>
                      <a:schemeClr val="tx2"/>
                    </a:solidFill>
                  </a:tcPr>
                </a:tc>
                <a:extLst>
                  <a:ext uri="{0D108BD9-81ED-4DB2-BD59-A6C34878D82A}">
                    <a16:rowId xmlns:a16="http://schemas.microsoft.com/office/drawing/2014/main" val="3835758296"/>
                  </a:ext>
                </a:extLst>
              </a:tr>
              <a:tr h="252755">
                <a:tc>
                  <a:txBody>
                    <a:bodyPr/>
                    <a:lstStyle/>
                    <a:p>
                      <a:r>
                        <a:rPr sz="950" b="0">
                          <a:latin typeface="Times New Roman"/>
                        </a:rPr>
                        <a:t>1. Nikhil — Tech Architect (Subsystems A &amp; B Lead)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322537897"/>
                  </a:ext>
                </a:extLst>
              </a:tr>
              <a:tr h="252755">
                <a:tc>
                  <a:txBody>
                    <a:bodyPr/>
                    <a:lstStyle/>
                    <a:p>
                      <a:r>
                        <a:rPr sz="950" b="0">
                          <a:latin typeface="Times New Roman"/>
                        </a:rPr>
                        <a:t>2. Vedanth Sai Ram — Subsystem C Lead (Edge AI)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8951624"/>
                  </a:ext>
                </a:extLst>
              </a:tr>
              <a:tr h="252755">
                <a:tc>
                  <a:txBody>
                    <a:bodyPr/>
                    <a:lstStyle/>
                    <a:p>
                      <a:r>
                        <a:rPr sz="950" b="0">
                          <a:latin typeface="Times New Roman"/>
                        </a:rPr>
                        <a:t>3. Siva Kesava — Subsystem D Lead (3D GIS GCS)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36322055"/>
                  </a:ext>
                </a:extLst>
              </a:tr>
              <a:tr h="252755">
                <a:tc>
                  <a:txBody>
                    <a:bodyPr/>
                    <a:lstStyle/>
                    <a:p>
                      <a:r>
                        <a:rPr sz="950" b="0">
                          <a:latin typeface="Times New Roman"/>
                        </a:rPr>
                        <a:t>4. Harika — Subsystem E Lead (Verification &amp; Pitch)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96001403"/>
                  </a:ext>
                </a:extLst>
              </a:tr>
              <a:tr h="252755">
                <a:tc>
                  <a:txBody>
                    <a:bodyPr/>
                    <a:lstStyle/>
                    <a:p>
                      <a:r>
                        <a:rPr sz="950" b="0">
                          <a:latin typeface="Times New Roman"/>
                        </a:rPr>
                        <a:t>5. Rohith Kumar — Subsystem F Lead (Ops &amp; Compute)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50444440"/>
                  </a:ext>
                </a:extLst>
              </a:tr>
            </a:tbl>
          </a:graphicData>
        </a:graphic>
      </p:graphicFrame>
      <p:graphicFrame>
        <p:nvGraphicFramePr>
          <p:cNvPr id="40" name="Table 39"/>
          <p:cNvGraphicFramePr>
            <a:graphicFrameLocks noGrp="1"/>
          </p:cNvGraphicFramePr>
          <p:nvPr>
            <p:extLst>
              <p:ext uri="{D42A27DB-BD31-4B8C-83A1-F6EECF244321}">
                <p14:modId xmlns:p14="http://schemas.microsoft.com/office/powerpoint/2010/main" val="3729356568"/>
              </p:ext>
            </p:extLst>
          </p:nvPr>
        </p:nvGraphicFramePr>
        <p:xfrm>
          <a:off x="4907273" y="3257550"/>
          <a:ext cx="3342758" cy="1828800"/>
        </p:xfrm>
        <a:graphic>
          <a:graphicData uri="http://schemas.openxmlformats.org/drawingml/2006/table">
            <a:tbl>
              <a:tblPr firstRow="1" bandRow="1">
                <a:tableStyleId>{5940675A-B579-460E-94D1-54222C63F5DA}</a:tableStyleId>
              </a:tblPr>
              <a:tblGrid>
                <a:gridCol w="3342758">
                  <a:extLst>
                    <a:ext uri="{9D8B030D-6E8A-4147-A177-3AD203B41FA5}">
                      <a16:colId xmlns:a16="http://schemas.microsoft.com/office/drawing/2014/main" val="3154602362"/>
                    </a:ext>
                  </a:extLst>
                </a:gridCol>
              </a:tblGrid>
              <a:tr h="278155">
                <a:tc>
                  <a:txBody>
                    <a:bodyPr/>
                    <a:lstStyle/>
                    <a:p>
                      <a:r>
                        <a:rPr sz="1050" b="1">
                          <a:solidFill>
                            <a:srgbClr val="0F172A"/>
                          </a:solidFill>
                          <a:latin typeface="Times New Roman"/>
                        </a:rPr>
                        <a:t>Team Details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3835758296"/>
                  </a:ext>
                </a:extLst>
              </a:tr>
              <a:tr h="278155">
                <a:tc>
                  <a:txBody>
                    <a:bodyPr/>
                    <a:lstStyle/>
                    <a:p>
                      <a:r>
                        <a:rPr sz="950" b="0">
                          <a:latin typeface="Times New Roman"/>
                        </a:rPr>
                        <a:t>Team ID: SHIH26-TID-361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322537897"/>
                  </a:ext>
                </a:extLst>
              </a:tr>
              <a:tr h="278155">
                <a:tc>
                  <a:txBody>
                    <a:bodyPr/>
                    <a:lstStyle/>
                    <a:p>
                      <a:r>
                        <a:rPr sz="950" b="0">
                          <a:latin typeface="Times New Roman"/>
                        </a:rPr>
                        <a:t>Team Name: Project SUTRA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8951624"/>
                  </a:ext>
                </a:extLst>
              </a:tr>
              <a:tr h="278155">
                <a:tc>
                  <a:txBody>
                    <a:bodyPr/>
                    <a:lstStyle/>
                    <a:p>
                      <a:r>
                        <a:rPr sz="950" b="0">
                          <a:latin typeface="Times New Roman"/>
                        </a:rPr>
                        <a:t>Team Lead: Nikhil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36322055"/>
                  </a:ext>
                </a:extLst>
              </a:tr>
              <a:tr h="278155">
                <a:tc>
                  <a:txBody>
                    <a:bodyPr/>
                    <a:lstStyle/>
                    <a:p>
                      <a:r>
                        <a:rPr sz="950" b="0">
                          <a:latin typeface="Times New Roman"/>
                        </a:rPr>
                        <a:t>College: New Horizon College of Engg. (NHCE)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96001403"/>
                  </a:ext>
                </a:extLst>
              </a:tr>
              <a:tr h="278155">
                <a:tc>
                  <a:txBody>
                    <a:bodyPr/>
                    <a:lstStyle/>
                    <a:p>
                      <a:r>
                        <a:rPr sz="950" b="0">
                          <a:latin typeface="Times New Roman"/>
                        </a:rPr>
                        <a:t>Problem Statement ID: SH-DST-05 (DST Track)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50444440"/>
                  </a:ext>
                </a:extLst>
              </a:tr>
            </a:tbl>
          </a:graphicData>
        </a:graphic>
      </p:graphicFrame>
      <p:sp>
        <p:nvSpPr>
          <p:cNvPr id="41" name="Shape 4"/>
          <p:cNvSpPr/>
          <p:nvPr/>
        </p:nvSpPr>
        <p:spPr>
          <a:xfrm>
            <a:off x="7487333" y="894865"/>
            <a:ext cx="1416606" cy="502874"/>
          </a:xfrm>
          <a:prstGeom prst="roundRect">
            <a:avLst>
              <a:gd name="adj" fmla="val 480095"/>
            </a:avLst>
          </a:prstGeom>
          <a:solidFill>
            <a:schemeClr val="tx2"/>
          </a:solidFill>
          <a:ln w="7620">
            <a:solidFill>
              <a:srgbClr val="BACFDD"/>
            </a:solidFill>
            <a:prstDash val="solid"/>
          </a:ln>
        </p:spPr>
        <p:txBody>
          <a:bodyPr/>
          <a:p/>
        </p:txBody>
      </p:sp>
      <p:sp>
        <p:nvSpPr>
          <p:cNvPr id="42" name="Text 6"/>
          <p:cNvSpPr/>
          <p:nvPr/>
        </p:nvSpPr>
        <p:spPr>
          <a:xfrm>
            <a:off x="7741099" y="1107433"/>
            <a:ext cx="931561" cy="120475"/>
          </a:xfrm>
          <a:prstGeom prst="rect">
            <a:avLst/>
          </a:prstGeom>
          <a:noFill/>
          <a:ln/>
        </p:spPr>
        <p:txBody>
          <a:bodyPr wrap="none" lIns="0" tIns="0" rIns="0" bIns="0" rtlCol="0" anchor="t"/>
          <a:lstStyle/>
          <a:p>
            <a:pPr algn="ctr" defTabSz="640048">
              <a:lnSpc>
                <a:spcPts val="1015"/>
              </a:lnSpc>
            </a:pPr>
            <a:r>
              <a:rPr lang="en-US" sz="1600" b="1" dirty="0" smtClean="0">
                <a:solidFill>
                  <a:schemeClr val="bg1"/>
                </a:solidFill>
                <a:latin typeface="Times New Roman" panose="02020603050405020304" pitchFamily="18" charset="0"/>
                <a:ea typeface="Montserrat" pitchFamily="34" charset="-122"/>
                <a:cs typeface="Times New Roman" panose="02020603050405020304" pitchFamily="18" charset="0"/>
              </a:rPr>
              <a:t>Grand Finale</a:t>
            </a:r>
            <a:endParaRPr lang="en-US" sz="16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207521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73943" y="372370"/>
            <a:ext cx="6765058" cy="599180"/>
          </a:xfrm>
          <a:prstGeom prst="rect">
            <a:avLst/>
          </a:prstGeom>
          <a:noFill/>
          <a:ln/>
        </p:spPr>
        <p:txBody>
          <a:bodyPr wrap="none" lIns="0" tIns="0" rIns="0" bIns="0" rtlCol="0" anchor="t"/>
          <a:lstStyle/>
          <a:p>
            <a:pPr defTabSz="640048">
              <a:lnSpc>
                <a:spcPts val="3920"/>
              </a:lnSpc>
            </a:pPr>
            <a:r>
              <a:rPr lang="en-US" sz="2400" b="1" dirty="0">
                <a:solidFill>
                  <a:schemeClr val="accent1">
                    <a:lumMod val="75000"/>
                  </a:schemeClr>
                </a:solidFill>
                <a:latin typeface="Times New Roman" panose="02020603050405020304" pitchFamily="18" charset="0"/>
                <a:ea typeface="Barlow Bold" pitchFamily="34" charset="-122"/>
                <a:cs typeface="Times New Roman" panose="02020603050405020304" pitchFamily="18" charset="0"/>
              </a:rPr>
              <a:t>Problem </a:t>
            </a:r>
            <a:r>
              <a:rPr lang="en-US" sz="2400" b="1" dirty="0" smtClean="0">
                <a:solidFill>
                  <a:schemeClr val="accent1">
                    <a:lumMod val="75000"/>
                  </a:schemeClr>
                </a:solidFill>
                <a:latin typeface="Times New Roman" panose="02020603050405020304" pitchFamily="18" charset="0"/>
                <a:ea typeface="Barlow Bold" pitchFamily="34" charset="-122"/>
                <a:cs typeface="Times New Roman" panose="02020603050405020304" pitchFamily="18" charset="0"/>
              </a:rPr>
              <a:t>Understanding</a:t>
            </a:r>
            <a:endParaRPr lang="en-US" sz="2400"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Text 1"/>
          <p:cNvSpPr/>
          <p:nvPr/>
        </p:nvSpPr>
        <p:spPr>
          <a:xfrm>
            <a:off x="473943" y="1078992"/>
            <a:ext cx="8196114" cy="3493008"/>
          </a:xfrm>
          <a:prstGeom prst="rect">
            <a:avLst/>
          </a:prstGeom>
          <a:noFill/>
          <a:ln/>
        </p:spPr>
        <p:txBody>
          <a:bodyPr wrap="square" lIns="73152" tIns="73152" rIns="73152" bIns="73152" rtlCol="0" anchor="t"/>
          <a:lstStyle/>
          <a:p>
            <a:pPr marL="240018" indent="-240018" defTabSz="640048">
              <a:lnSpc>
                <a:spcPct val="115000"/>
              </a:lnSpc>
              <a:spcAft>
                <a:spcPts val="400"/>
              </a:spcAft>
              <a:buSzPct val="100000"/>
              <a:buFontTx/>
              <a:buChar char="•"/>
            </a:pPr>
            <a:r>
              <a:rPr b="1" sz="1100">
                <a:solidFill>
                  <a:srgbClr val="0F172A"/>
                </a:solidFill>
                <a:latin typeface="Times New Roman"/>
              </a:rPr>
              <a:t>• The Golden 72 Hours Disaster Imperative: </a:t>
            </a:r>
            <a:r>
              <a:rPr b="0" sz="1100">
                <a:solidFill>
                  <a:srgbClr val="1E293B"/>
                </a:solidFill>
                <a:latin typeface="Times New Roman"/>
              </a:rPr>
              <a:t>In catastrophic flash floods and landslides (e.g., Kedarnath, Wayanad), the initial 72-hour window dictates survival. Unstable debris, destroyed bridges, and toxic floodwaters make manual foot search dangerously slow and life-threatening for ground responders.</a:t>
            </a:r>
            <a:endParaRPr lang="en-US" sz="1200" dirty="0">
              <a:solidFill>
                <a:prstClr val="black"/>
              </a:solidFill>
            </a:endParaRPr>
          </a:p>
          <a:p>
            <a:pPr>
              <a:lnSpc>
                <a:spcPct val="115000"/>
              </a:lnSpc>
              <a:spcAft>
                <a:spcPts val="400"/>
              </a:spcAft>
            </a:pPr>
            <a:r>
              <a:rPr b="1" sz="1100">
                <a:solidFill>
                  <a:srgbClr val="0F172A"/>
                </a:solidFill>
                <a:latin typeface="Times New Roman"/>
              </a:rPr>
              <a:t>• GPS-Denied Trajectory Collapse: </a:t>
            </a:r>
            <a:r>
              <a:rPr b="0" sz="1100">
                <a:solidFill>
                  <a:srgbClr val="1E293B"/>
                </a:solidFill>
                <a:latin typeface="Times New Roman"/>
              </a:rPr>
              <a:t>Deep mountain gorges, forest canopies, and electronic warfare environments completely block or reflect satellite signals (multipath reflection), causing standard drones to lose position hold, drift with wind shear, and crash into valley walls.</a:t>
            </a:r>
          </a:p>
          <a:p>
            <a:pPr>
              <a:lnSpc>
                <a:spcPct val="115000"/>
              </a:lnSpc>
              <a:spcAft>
                <a:spcPts val="400"/>
              </a:spcAft>
            </a:pPr>
            <a:r>
              <a:rPr b="1" sz="1100">
                <a:solidFill>
                  <a:srgbClr val="0F172A"/>
                </a:solidFill>
                <a:latin typeface="Times New Roman"/>
              </a:rPr>
              <a:t>• RF Jamming &amp; The 'Digital Cliff Effect': </a:t>
            </a:r>
            <a:r>
              <a:rPr b="0" sz="1100">
                <a:solidFill>
                  <a:srgbClr val="1E293B"/>
                </a:solidFill>
                <a:latin typeface="Times New Roman"/>
              </a:rPr>
              <a:t>Commercial drones rely on digital 2.4/5.8 GHz Wi-Fi and H.264 video. When signal-to-noise ratio drops below 5 dB due to rain, dense foliage, or jamming, digital video drops off a cliff—causing catastrophic frame freezing and black screens.</a:t>
            </a:r>
          </a:p>
          <a:p>
            <a:pPr>
              <a:lnSpc>
                <a:spcPct val="115000"/>
              </a:lnSpc>
              <a:spcAft>
                <a:spcPts val="400"/>
              </a:spcAft>
            </a:pPr>
            <a:r>
              <a:rPr b="1" sz="1100">
                <a:solidFill>
                  <a:srgbClr val="0F172A"/>
                </a:solidFill>
                <a:latin typeface="Times New Roman"/>
              </a:rPr>
              <a:t>• Single-Drone Bottleneck &amp; Pilot Fatigue: </a:t>
            </a:r>
            <a:r>
              <a:rPr b="0" sz="1100">
                <a:solidFill>
                  <a:srgbClr val="1E293B"/>
                </a:solidFill>
                <a:latin typeface="Times New Roman"/>
              </a:rPr>
              <a:t>Single-drone operations cover less than 0.2 km² per flight, require 1 dedicated pilot per drone, and collapse upon a single motor or battery failure.</a:t>
            </a:r>
          </a:p>
          <a:p>
            <a:pPr>
              <a:lnSpc>
                <a:spcPct val="115000"/>
              </a:lnSpc>
              <a:spcAft>
                <a:spcPts val="400"/>
              </a:spcAft>
            </a:pPr>
            <a:r>
              <a:rPr b="1" sz="1100">
                <a:solidFill>
                  <a:srgbClr val="0F172A"/>
                </a:solidFill>
                <a:latin typeface="Times New Roman"/>
              </a:rPr>
              <a:t>• Multi-Agent Collision Paradox: </a:t>
            </a:r>
            <a:r>
              <a:rPr b="0" sz="1100">
                <a:solidFill>
                  <a:srgbClr val="1E293B"/>
                </a:solidFill>
                <a:latin typeface="Times New Roman"/>
              </a:rPr>
              <a:t>Deploying multiple drones without centralized GPS coordination creates deadlock singularities where drones meet head-on, freeze, or collide due to aerodynamic downwash turbulence.</a:t>
            </a:r>
          </a:p>
        </p:txBody>
      </p:sp>
      <p:sp>
        <p:nvSpPr>
          <p:cNvPr id="7" name="Date Placeholder 6"/>
          <p:cNvSpPr>
            <a:spLocks noGrp="1"/>
          </p:cNvSpPr>
          <p:nvPr>
            <p:ph type="dt" sz="half" idx="10"/>
          </p:nvPr>
        </p:nvSpPr>
        <p:spPr/>
        <p:txBody>
          <a:bodyPr/>
          <a:lstStyle/>
          <a:p>
            <a:r>
              <a:t>05 September 2026</a:t>
            </a:r>
          </a:p>
        </p:txBody>
      </p:sp>
      <p:sp>
        <p:nvSpPr>
          <p:cNvPr id="8" name="Footer Placeholder 7"/>
          <p:cNvSpPr>
            <a:spLocks noGrp="1"/>
          </p:cNvSpPr>
          <p:nvPr>
            <p:ph type="ftr" sz="quarter" idx="11"/>
          </p:nvPr>
        </p:nvSpPr>
        <p:spPr>
          <a:xfrm>
            <a:off x="2743200" y="4767263"/>
            <a:ext cx="3657600" cy="273844"/>
          </a:xfrm>
        </p:spPr>
        <p:txBody>
          <a:bodyPr/>
          <a:lstStyle/>
          <a:p>
            <a:r>
              <a:rPr lang="en-US" dirty="0" smtClean="0"/>
              <a:t>Smart Horizon 2026: 48 Hour International Hackathon</a:t>
            </a:r>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73943" y="372370"/>
            <a:ext cx="6765058" cy="599180"/>
          </a:xfrm>
          <a:prstGeom prst="rect">
            <a:avLst/>
          </a:prstGeom>
          <a:noFill/>
          <a:ln/>
        </p:spPr>
        <p:txBody>
          <a:bodyPr wrap="none" lIns="0" tIns="0" rIns="0" bIns="0" rtlCol="0" anchor="t"/>
          <a:lstStyle/>
          <a:p>
            <a:pPr defTabSz="640048">
              <a:lnSpc>
                <a:spcPts val="3920"/>
              </a:lnSpc>
            </a:pPr>
            <a:r>
              <a:rPr lang="en-US" sz="2400" b="1" dirty="0" smtClean="0">
                <a:solidFill>
                  <a:schemeClr val="accent1">
                    <a:lumMod val="75000"/>
                  </a:schemeClr>
                </a:solidFill>
                <a:latin typeface="Times New Roman" panose="02020603050405020304" pitchFamily="18" charset="0"/>
                <a:ea typeface="Barlow Bold" pitchFamily="34" charset="-122"/>
                <a:cs typeface="Times New Roman" panose="02020603050405020304" pitchFamily="18" charset="0"/>
              </a:rPr>
              <a:t>Literature Survey</a:t>
            </a:r>
            <a:endParaRPr lang="en-US" sz="2400"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Text 1"/>
          <p:cNvSpPr/>
          <p:nvPr/>
        </p:nvSpPr>
        <p:spPr>
          <a:xfrm>
            <a:off x="473943" y="1078992"/>
            <a:ext cx="8196114" cy="3493008"/>
          </a:xfrm>
          <a:prstGeom prst="rect">
            <a:avLst/>
          </a:prstGeom>
          <a:noFill/>
          <a:ln/>
        </p:spPr>
        <p:txBody>
          <a:bodyPr wrap="square" lIns="73152" tIns="73152" rIns="73152" bIns="73152" rtlCol="0" anchor="t"/>
          <a:lstStyle/>
          <a:p>
            <a:pPr marL="240018" indent="-240018" defTabSz="640048">
              <a:lnSpc>
                <a:spcPct val="115000"/>
              </a:lnSpc>
              <a:spcAft>
                <a:spcPts val="400"/>
              </a:spcAft>
              <a:buSzPct val="100000"/>
              <a:buFontTx/>
              <a:buChar char="•"/>
            </a:pPr>
            <a:r>
              <a:rPr b="1" sz="1100">
                <a:solidFill>
                  <a:srgbClr val="0F172A"/>
                </a:solidFill>
                <a:latin typeface="Times New Roman"/>
              </a:rPr>
              <a:t>• Trajectory Planning (A*, RRT*, Standard APF): </a:t>
            </a:r>
            <a:r>
              <a:rPr b="0" sz="1100">
                <a:solidFill>
                  <a:srgbClr val="1E293B"/>
                </a:solidFill>
                <a:latin typeface="Times New Roman"/>
              </a:rPr>
              <a:t>Generates piecewise-linear paths with discontinuous jerk (&gt; 4.2 m/s³), causing motor saturation, high tracking RMSE (&gt; 0.8m), and violent oscillations under turbulent wind gusts.</a:t>
            </a:r>
            <a:endParaRPr lang="en-US" sz="1200" dirty="0">
              <a:solidFill>
                <a:prstClr val="black"/>
              </a:solidFill>
            </a:endParaRPr>
          </a:p>
          <a:p>
            <a:pPr>
              <a:lnSpc>
                <a:spcPct val="115000"/>
              </a:lnSpc>
              <a:spcAft>
                <a:spcPts val="400"/>
              </a:spcAft>
            </a:pPr>
            <a:r>
              <a:rPr b="1" sz="1100">
                <a:solidFill>
                  <a:srgbClr val="0F172A"/>
                </a:solidFill>
                <a:latin typeface="Times New Roman"/>
              </a:rPr>
              <a:t>• Multi-Agent Avoidance (2D ORCA / Potential Fields): </a:t>
            </a:r>
            <a:r>
              <a:rPr b="0" sz="1100">
                <a:solidFill>
                  <a:srgbClr val="1E293B"/>
                </a:solidFill>
                <a:latin typeface="Times New Roman"/>
              </a:rPr>
              <a:t>Confined to coplanar 2D planes; exhibits symmetrical stagnation deadlocks in narrow mountain ravines where two opposing drones stop and hover until battery depletion.</a:t>
            </a:r>
          </a:p>
          <a:p>
            <a:pPr>
              <a:lnSpc>
                <a:spcPct val="115000"/>
              </a:lnSpc>
              <a:spcAft>
                <a:spcPts val="400"/>
              </a:spcAft>
            </a:pPr>
            <a:r>
              <a:rPr b="1" sz="1100">
                <a:solidFill>
                  <a:srgbClr val="0F172A"/>
                </a:solidFill>
                <a:latin typeface="Times New Roman"/>
              </a:rPr>
              <a:t>• Wireless Transmission (H.264/H.265 over 802.11ac): </a:t>
            </a:r>
            <a:r>
              <a:rPr b="0" sz="1100">
                <a:solidFill>
                  <a:srgbClr val="1E293B"/>
                </a:solidFill>
                <a:latin typeface="Times New Roman"/>
              </a:rPr>
              <a:t>Separates source and channel coding with rigid digital quantization. When packet loss exceeds 5%, error concealment fails completely, producing black screens.</a:t>
            </a:r>
          </a:p>
          <a:p>
            <a:pPr>
              <a:lnSpc>
                <a:spcPct val="115000"/>
              </a:lnSpc>
              <a:spcAft>
                <a:spcPts val="400"/>
              </a:spcAft>
            </a:pPr>
            <a:r>
              <a:rPr b="1" sz="1100">
                <a:solidFill>
                  <a:srgbClr val="0F172A"/>
                </a:solidFill>
                <a:latin typeface="Times New Roman"/>
              </a:rPr>
              <a:t>• Consensus Protocols (Standard Raft / Paxos): </a:t>
            </a:r>
            <a:r>
              <a:rPr b="0" sz="1100">
                <a:solidFill>
                  <a:srgbClr val="1E293B"/>
                </a:solidFill>
                <a:latin typeface="Times New Roman"/>
              </a:rPr>
              <a:t>Designed for static datacenter networks with 150–300ms election timeouts and TCP handshakes, causing severe routing partition failures in high-speed flying ad-hoc networks (FANET).</a:t>
            </a:r>
          </a:p>
          <a:p>
            <a:pPr>
              <a:lnSpc>
                <a:spcPct val="115000"/>
              </a:lnSpc>
              <a:spcAft>
                <a:spcPts val="400"/>
              </a:spcAft>
            </a:pPr>
            <a:r>
              <a:rPr b="1" sz="1100">
                <a:solidFill>
                  <a:srgbClr val="0F172A"/>
                </a:solidFill>
                <a:latin typeface="Times New Roman"/>
              </a:rPr>
              <a:t>• Enterprise SAR UAVs (DJI Matrice 350 RTK): </a:t>
            </a:r>
            <a:r>
              <a:rPr b="0" sz="1100">
                <a:solidFill>
                  <a:srgbClr val="1E293B"/>
                </a:solidFill>
                <a:latin typeface="Times New Roman"/>
              </a:rPr>
              <a:t>Costs ₹15,00,000–₹18,50,000 per unit, relies on proprietary closed links, lacks multi-UAV autonomous collaboration, and faces sovereign defense bans in border search operations.</a:t>
            </a:r>
          </a:p>
        </p:txBody>
      </p:sp>
      <p:sp>
        <p:nvSpPr>
          <p:cNvPr id="7" name="Date Placeholder 6"/>
          <p:cNvSpPr>
            <a:spLocks noGrp="1"/>
          </p:cNvSpPr>
          <p:nvPr>
            <p:ph type="dt" sz="half" idx="10"/>
          </p:nvPr>
        </p:nvSpPr>
        <p:spPr/>
        <p:txBody>
          <a:bodyPr/>
          <a:lstStyle/>
          <a:p>
            <a:r>
              <a:t>05 September 2026</a:t>
            </a:r>
          </a:p>
        </p:txBody>
      </p:sp>
      <p:sp>
        <p:nvSpPr>
          <p:cNvPr id="8" name="Footer Placeholder 7"/>
          <p:cNvSpPr>
            <a:spLocks noGrp="1"/>
          </p:cNvSpPr>
          <p:nvPr>
            <p:ph type="ftr" sz="quarter" idx="11"/>
          </p:nvPr>
        </p:nvSpPr>
        <p:spPr>
          <a:xfrm>
            <a:off x="2743200" y="4767263"/>
            <a:ext cx="3657600" cy="273844"/>
          </a:xfrm>
        </p:spPr>
        <p:txBody>
          <a:bodyPr/>
          <a:lstStyle/>
          <a:p>
            <a:r>
              <a:rPr lang="en-US" dirty="0" smtClean="0"/>
              <a:t>Smart Horizon 2026: 48 Hour International Hackathon</a:t>
            </a:r>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3</a:t>
            </a:fld>
            <a:endParaRPr lang="en-US"/>
          </a:p>
        </p:txBody>
      </p:sp>
    </p:spTree>
    <p:extLst>
      <p:ext uri="{BB962C8B-B14F-4D97-AF65-F5344CB8AC3E}">
        <p14:creationId xmlns:p14="http://schemas.microsoft.com/office/powerpoint/2010/main" val="516780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73942" y="285750"/>
            <a:ext cx="4783857" cy="532062"/>
          </a:xfrm>
          <a:prstGeom prst="rect">
            <a:avLst/>
          </a:prstGeom>
          <a:noFill/>
          <a:ln/>
        </p:spPr>
        <p:txBody>
          <a:bodyPr wrap="none" lIns="0" tIns="0" rIns="0" bIns="0" rtlCol="0" anchor="t"/>
          <a:lstStyle/>
          <a:p>
            <a:pPr defTabSz="640048">
              <a:lnSpc>
                <a:spcPts val="3920"/>
              </a:lnSpc>
            </a:pPr>
            <a:r>
              <a:rPr lang="en-US" sz="2400" b="1" dirty="0">
                <a:solidFill>
                  <a:schemeClr val="accent1">
                    <a:lumMod val="75000"/>
                  </a:schemeClr>
                </a:solidFill>
                <a:latin typeface="Times New Roman" panose="02020603050405020304" pitchFamily="18" charset="0"/>
                <a:ea typeface="Barlow Bold" pitchFamily="34" charset="-122"/>
                <a:cs typeface="Times New Roman" panose="02020603050405020304" pitchFamily="18" charset="0"/>
              </a:rPr>
              <a:t>Proposed Solution &amp; Innovation</a:t>
            </a:r>
            <a:endParaRPr lang="en-US" sz="2400"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Text 1"/>
          <p:cNvSpPr/>
          <p:nvPr/>
        </p:nvSpPr>
        <p:spPr>
          <a:xfrm>
            <a:off x="473943" y="1078992"/>
            <a:ext cx="8196114" cy="3493008"/>
          </a:xfrm>
          <a:prstGeom prst="rect">
            <a:avLst/>
          </a:prstGeom>
          <a:noFill/>
          <a:ln/>
        </p:spPr>
        <p:txBody>
          <a:bodyPr wrap="square" lIns="73152" tIns="73152" rIns="73152" bIns="73152" rtlCol="0" anchor="t"/>
          <a:lstStyle/>
          <a:p>
            <a:pPr marL="240018" indent="-240018" defTabSz="640048">
              <a:lnSpc>
                <a:spcPct val="115000"/>
              </a:lnSpc>
              <a:spcAft>
                <a:spcPts val="400"/>
              </a:spcAft>
              <a:buSzPct val="100000"/>
              <a:buFontTx/>
              <a:buChar char="•"/>
            </a:pPr>
            <a:r>
              <a:rPr b="1" sz="1100">
                <a:solidFill>
                  <a:srgbClr val="0F172A"/>
                </a:solidFill>
                <a:latin typeface="Times New Roman"/>
              </a:rPr>
              <a:t>• Decentralized Physical AI Swarm Architecture: </a:t>
            </a:r>
            <a:r>
              <a:rPr b="0" sz="1100">
                <a:solidFill>
                  <a:srgbClr val="1E293B"/>
                </a:solidFill>
                <a:latin typeface="Times New Roman"/>
              </a:rPr>
              <a:t>A 5-UAV collaborative swarm system operating fully decentralized—with each drone executing onboard perception, guidance, and mesh routing without cloud, GPS, or manual pilots.</a:t>
            </a:r>
            <a:endParaRPr lang="en-US" sz="1200" dirty="0">
              <a:solidFill>
                <a:prstClr val="black"/>
              </a:solidFill>
            </a:endParaRPr>
          </a:p>
          <a:p>
            <a:pPr>
              <a:lnSpc>
                <a:spcPct val="115000"/>
              </a:lnSpc>
              <a:spcAft>
                <a:spcPts val="400"/>
              </a:spcAft>
            </a:pPr>
            <a:r>
              <a:rPr b="1" sz="1100">
                <a:solidFill>
                  <a:srgbClr val="0F172A"/>
                </a:solidFill>
                <a:latin typeface="Times New Roman"/>
              </a:rPr>
              <a:t>• SUTRA-FSD &amp; SutraNeuroFlight Autopilot: </a:t>
            </a:r>
            <a:r>
              <a:rPr b="0" sz="1100">
                <a:solidFill>
                  <a:srgbClr val="1E293B"/>
                </a:solidFill>
                <a:latin typeface="Times New Roman"/>
              </a:rPr>
              <a:t>Closed-form quintic polynomial splines (C² continuous, jerk &lt; 4.2 m/s³) paired with a 0.04ms CUDA neural feedforward network proactively canceling 18 m/s turbulent mountain wind gusts.</a:t>
            </a:r>
          </a:p>
          <a:p>
            <a:pPr>
              <a:lnSpc>
                <a:spcPct val="115000"/>
              </a:lnSpc>
              <a:spcAft>
                <a:spcPts val="400"/>
              </a:spcAft>
            </a:pPr>
            <a:r>
              <a:rPr b="1" sz="1100">
                <a:solidFill>
                  <a:srgbClr val="0F172A"/>
                </a:solidFill>
                <a:latin typeface="Times New Roman"/>
              </a:rPr>
              <a:t>• Control Barrier Function (C3BF) Safety Shield: </a:t>
            </a:r>
            <a:r>
              <a:rPr b="0" sz="1100">
                <a:solidFill>
                  <a:srgbClr val="1E293B"/>
                </a:solidFill>
                <a:latin typeface="Times New Roman"/>
              </a:rPr>
              <a:t>Active quadratic programming filter projecting 50Hz acceleration commands onto reciprocal half-spaces, mathematically guaranteeing a strict &gt; 2.80m clearance envelope.</a:t>
            </a:r>
          </a:p>
          <a:p>
            <a:pPr>
              <a:lnSpc>
                <a:spcPct val="115000"/>
              </a:lnSpc>
              <a:spcAft>
                <a:spcPts val="400"/>
              </a:spcAft>
            </a:pPr>
            <a:r>
              <a:rPr b="1" sz="1100">
                <a:solidFill>
                  <a:srgbClr val="0F172A"/>
                </a:solidFill>
                <a:latin typeface="Times New Roman"/>
              </a:rPr>
              <a:t>• Deep JSCC Neural Communications: </a:t>
            </a:r>
            <a:r>
              <a:rPr b="0" sz="1100">
                <a:solidFill>
                  <a:srgbClr val="1E293B"/>
                </a:solidFill>
                <a:latin typeface="Times New Roman"/>
              </a:rPr>
              <a:t>Joint Source-Channel Coding autoencoder compressing 512KB frames down to 16KB continuous latents (96.9% reduction), delivering 41.5 dB PSNR under severe -5 dB jamming without freezing.</a:t>
            </a:r>
          </a:p>
          <a:p>
            <a:pPr>
              <a:lnSpc>
                <a:spcPct val="115000"/>
              </a:lnSpc>
              <a:spcAft>
                <a:spcPts val="400"/>
              </a:spcAft>
            </a:pPr>
            <a:r>
              <a:rPr b="1" sz="1100">
                <a:solidFill>
                  <a:srgbClr val="0F172A"/>
                </a:solidFill>
                <a:latin typeface="Times New Roman"/>
              </a:rPr>
              <a:t>• Tri-Modal Perception &amp; 3D GIS WebGPU GCS: </a:t>
            </a:r>
            <a:r>
              <a:rPr b="0" sz="1100">
                <a:solidFill>
                  <a:srgbClr val="1E293B"/>
                </a:solidFill>
                <a:latin typeface="Times New Roman"/>
              </a:rPr>
              <a:t>TensorRT YOLOv8 (4.8ms) fusing RGB, FLIR Thermal, and Radar with 6-DOF DEM WGS84 raycasting (&lt; 0.32m geolocation error) and a locked 60 FPS tactical command station.</a:t>
            </a:r>
          </a:p>
        </p:txBody>
      </p:sp>
      <p:sp>
        <p:nvSpPr>
          <p:cNvPr id="4" name="Date Placeholder 3"/>
          <p:cNvSpPr>
            <a:spLocks noGrp="1"/>
          </p:cNvSpPr>
          <p:nvPr>
            <p:ph type="dt" sz="half" idx="10"/>
          </p:nvPr>
        </p:nvSpPr>
        <p:spPr/>
        <p:txBody>
          <a:bodyPr/>
          <a:lstStyle/>
          <a:p>
            <a:r>
              <a:t>05 September 2026</a:t>
            </a:r>
          </a:p>
        </p:txBody>
      </p:sp>
      <p:sp>
        <p:nvSpPr>
          <p:cNvPr id="6" name="Slide Number Placeholder 5"/>
          <p:cNvSpPr>
            <a:spLocks noGrp="1"/>
          </p:cNvSpPr>
          <p:nvPr>
            <p:ph type="sldNum" sz="quarter" idx="12"/>
          </p:nvPr>
        </p:nvSpPr>
        <p:spPr/>
        <p:txBody>
          <a:bodyPr/>
          <a:lstStyle/>
          <a:p>
            <a:fld id="{B6F15528-21DE-4FAA-801E-634DDDAF4B2B}" type="slidenum">
              <a:rPr lang="en-US" smtClean="0"/>
              <a:pPr/>
              <a:t>4</a:t>
            </a:fld>
            <a:endParaRPr lang="en-US"/>
          </a:p>
        </p:txBody>
      </p:sp>
      <p:sp>
        <p:nvSpPr>
          <p:cNvPr id="9" name="Footer Placeholder 7"/>
          <p:cNvSpPr>
            <a:spLocks noGrp="1"/>
          </p:cNvSpPr>
          <p:nvPr>
            <p:ph type="ftr" sz="quarter" idx="11"/>
          </p:nvPr>
        </p:nvSpPr>
        <p:spPr>
          <a:xfrm>
            <a:off x="2743200" y="4767263"/>
            <a:ext cx="3657600" cy="273844"/>
          </a:xfrm>
        </p:spPr>
        <p:txBody>
          <a:bodyPr/>
          <a:lstStyle/>
          <a:p>
            <a:r>
              <a:rPr lang="en-US" dirty="0" smtClean="0"/>
              <a:t>Smart Horizon 2026: 48 Hour International Hackathon</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73942" y="285750"/>
            <a:ext cx="4783857" cy="532062"/>
          </a:xfrm>
          <a:prstGeom prst="rect">
            <a:avLst/>
          </a:prstGeom>
          <a:noFill/>
          <a:ln/>
        </p:spPr>
        <p:txBody>
          <a:bodyPr wrap="none" lIns="0" tIns="0" rIns="0" bIns="0" rtlCol="0" anchor="t"/>
          <a:lstStyle/>
          <a:p>
            <a:pPr defTabSz="640048">
              <a:lnSpc>
                <a:spcPts val="3920"/>
              </a:lnSpc>
            </a:pPr>
            <a:r>
              <a:rPr lang="en-US" sz="2400" b="1" dirty="0" smtClean="0">
                <a:solidFill>
                  <a:schemeClr val="accent1">
                    <a:lumMod val="75000"/>
                  </a:schemeClr>
                </a:solidFill>
                <a:latin typeface="Times New Roman" panose="02020603050405020304" pitchFamily="18" charset="0"/>
                <a:ea typeface="Barlow Bold" pitchFamily="34" charset="-122"/>
                <a:cs typeface="Times New Roman" panose="02020603050405020304" pitchFamily="18" charset="0"/>
              </a:rPr>
              <a:t>Novelty of Solution</a:t>
            </a:r>
            <a:endParaRPr lang="en-US" sz="2400"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Text 1"/>
          <p:cNvSpPr/>
          <p:nvPr/>
        </p:nvSpPr>
        <p:spPr>
          <a:xfrm>
            <a:off x="473943" y="1078992"/>
            <a:ext cx="8196114" cy="3493008"/>
          </a:xfrm>
          <a:prstGeom prst="rect">
            <a:avLst/>
          </a:prstGeom>
          <a:noFill/>
          <a:ln/>
        </p:spPr>
        <p:txBody>
          <a:bodyPr wrap="square" lIns="73152" tIns="73152" rIns="73152" bIns="73152" rtlCol="0" anchor="t"/>
          <a:lstStyle/>
          <a:p>
            <a:pPr marL="240018" indent="-240018" defTabSz="640048">
              <a:lnSpc>
                <a:spcPct val="115000"/>
              </a:lnSpc>
              <a:spcAft>
                <a:spcPts val="400"/>
              </a:spcAft>
              <a:buSzPct val="100000"/>
              <a:buFontTx/>
              <a:buChar char="•"/>
            </a:pPr>
            <a:r>
              <a:rPr b="1" sz="1100">
                <a:solidFill>
                  <a:srgbClr val="0F172A"/>
                </a:solidFill>
                <a:latin typeface="Times New Roman"/>
              </a:rPr>
              <a:t>1. Analog Graceful Degradation over Deep JSCC: </a:t>
            </a:r>
            <a:r>
              <a:rPr b="0" sz="1100">
                <a:solidFill>
                  <a:srgbClr val="1E293B"/>
                </a:solidFill>
                <a:latin typeface="Times New Roman"/>
              </a:rPr>
              <a:t>Completely eliminates the digital cliff effect. In high-jamming zones (-8.0 dB SNR), video degrades with smooth Gaussian blur preserving human body heat, whereas H.264 fails completely.</a:t>
            </a:r>
            <a:endParaRPr lang="en-US" sz="1200" dirty="0">
              <a:solidFill>
                <a:prstClr val="black"/>
              </a:solidFill>
            </a:endParaRPr>
          </a:p>
          <a:p>
            <a:pPr>
              <a:lnSpc>
                <a:spcPct val="115000"/>
              </a:lnSpc>
              <a:spcAft>
                <a:spcPts val="400"/>
              </a:spcAft>
            </a:pPr>
            <a:r>
              <a:rPr b="1" sz="1100">
                <a:solidFill>
                  <a:srgbClr val="0F172A"/>
                </a:solidFill>
                <a:latin typeface="Times New Roman"/>
              </a:rPr>
              <a:t>2. Sub-50ms Decentralized SwarmRAFT Consensus: </a:t>
            </a:r>
            <a:r>
              <a:rPr b="0" sz="1100">
                <a:solidFill>
                  <a:srgbClr val="1E293B"/>
                </a:solidFill>
                <a:latin typeface="Times New Roman"/>
              </a:rPr>
              <a:t>Dynamic leader failover in &lt; 50ms over 802.11s UDP mesh with battery-weighted centrality. If a drone is lost, search corridors automatically repartition with zero human intervention.</a:t>
            </a:r>
          </a:p>
          <a:p>
            <a:pPr>
              <a:lnSpc>
                <a:spcPct val="115000"/>
              </a:lnSpc>
              <a:spcAft>
                <a:spcPts val="400"/>
              </a:spcAft>
            </a:pPr>
            <a:r>
              <a:rPr b="1" sz="1100">
                <a:solidFill>
                  <a:srgbClr val="0F172A"/>
                </a:solidFill>
                <a:latin typeface="Times New Roman"/>
              </a:rPr>
              <a:t>3. 3D Non-Coplanar Echelon Cruising Layers: </a:t>
            </a:r>
            <a:r>
              <a:rPr b="0" sz="1100">
                <a:solidFill>
                  <a:srgbClr val="1E293B"/>
                </a:solidFill>
                <a:latin typeface="Times New Roman"/>
              </a:rPr>
              <a:t>Drones cruise on assigned vertical slices (3.5m, 3.8m, 4.1m, 4.4m, 4.6m), mathematically eliminating 2D collinear intersection singularities and propeller downwash vortex destabilization.</a:t>
            </a:r>
          </a:p>
          <a:p>
            <a:pPr>
              <a:lnSpc>
                <a:spcPct val="115000"/>
              </a:lnSpc>
              <a:spcAft>
                <a:spcPts val="400"/>
              </a:spcAft>
            </a:pPr>
            <a:r>
              <a:rPr b="1" sz="1100">
                <a:solidFill>
                  <a:srgbClr val="0F172A"/>
                </a:solidFill>
                <a:latin typeface="Times New Roman"/>
              </a:rPr>
              <a:t>4. 6-DOF DEM-Corrected WGS84 Geolocation Raycaster: </a:t>
            </a:r>
            <a:r>
              <a:rPr b="0" sz="1100">
                <a:solidFill>
                  <a:srgbClr val="1E293B"/>
                </a:solidFill>
                <a:latin typeface="Times New Roman"/>
              </a:rPr>
              <a:t>Compensates for ±25° drone attitude tilt and mountain elevation contours using closed-form ray-surface intersection, achieving sub-0.32m victim ground coordinates at 30m altitude.</a:t>
            </a:r>
          </a:p>
          <a:p>
            <a:pPr>
              <a:lnSpc>
                <a:spcPct val="115000"/>
              </a:lnSpc>
              <a:spcAft>
                <a:spcPts val="400"/>
              </a:spcAft>
            </a:pPr>
            <a:r>
              <a:rPr b="1" sz="1100">
                <a:solidFill>
                  <a:srgbClr val="0F172A"/>
                </a:solidFill>
                <a:latin typeface="Times New Roman"/>
              </a:rPr>
              <a:t>5. 97.1% Hardware Unit Cost Savings (₹42,850 / Drone): </a:t>
            </a:r>
            <a:r>
              <a:rPr b="0" sz="1100">
                <a:solidFill>
                  <a:srgbClr val="1E293B"/>
                </a:solidFill>
                <a:latin typeface="Times New Roman"/>
              </a:rPr>
              <a:t>An entire 5-drone SUTRA tactical swarm costs ₹2,14,250—less than 15% of the cost of a single commercial DJI enterprise drone (₹18,00,000), democratizing disaster response.</a:t>
            </a:r>
          </a:p>
        </p:txBody>
      </p:sp>
      <p:sp>
        <p:nvSpPr>
          <p:cNvPr id="4" name="Date Placeholder 3"/>
          <p:cNvSpPr>
            <a:spLocks noGrp="1"/>
          </p:cNvSpPr>
          <p:nvPr>
            <p:ph type="dt" sz="half" idx="10"/>
          </p:nvPr>
        </p:nvSpPr>
        <p:spPr/>
        <p:txBody>
          <a:bodyPr/>
          <a:lstStyle/>
          <a:p>
            <a:r>
              <a:t>05 September 2026</a:t>
            </a:r>
          </a:p>
        </p:txBody>
      </p:sp>
      <p:sp>
        <p:nvSpPr>
          <p:cNvPr id="6" name="Slide Number Placeholder 5"/>
          <p:cNvSpPr>
            <a:spLocks noGrp="1"/>
          </p:cNvSpPr>
          <p:nvPr>
            <p:ph type="sldNum" sz="quarter" idx="12"/>
          </p:nvPr>
        </p:nvSpPr>
        <p:spPr/>
        <p:txBody>
          <a:bodyPr/>
          <a:lstStyle/>
          <a:p>
            <a:fld id="{B6F15528-21DE-4FAA-801E-634DDDAF4B2B}" type="slidenum">
              <a:rPr lang="en-US" smtClean="0"/>
              <a:pPr/>
              <a:t>5</a:t>
            </a:fld>
            <a:endParaRPr lang="en-US"/>
          </a:p>
        </p:txBody>
      </p:sp>
      <p:sp>
        <p:nvSpPr>
          <p:cNvPr id="9" name="Footer Placeholder 7"/>
          <p:cNvSpPr>
            <a:spLocks noGrp="1"/>
          </p:cNvSpPr>
          <p:nvPr>
            <p:ph type="ftr" sz="quarter" idx="11"/>
          </p:nvPr>
        </p:nvSpPr>
        <p:spPr>
          <a:xfrm>
            <a:off x="2743200" y="4767263"/>
            <a:ext cx="3657600" cy="273844"/>
          </a:xfrm>
        </p:spPr>
        <p:txBody>
          <a:bodyPr/>
          <a:lstStyle/>
          <a:p>
            <a:r>
              <a:rPr lang="en-US" dirty="0" smtClean="0"/>
              <a:t>Smart Horizon 2026: 48 Hour International Hackathon</a:t>
            </a:r>
            <a:endParaRPr lang="en-US" dirty="0"/>
          </a:p>
        </p:txBody>
      </p:sp>
    </p:spTree>
    <p:extLst>
      <p:ext uri="{BB962C8B-B14F-4D97-AF65-F5344CB8AC3E}">
        <p14:creationId xmlns:p14="http://schemas.microsoft.com/office/powerpoint/2010/main" val="5908394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73942" y="285750"/>
            <a:ext cx="4783857" cy="532062"/>
          </a:xfrm>
          <a:prstGeom prst="rect">
            <a:avLst/>
          </a:prstGeom>
          <a:noFill/>
          <a:ln/>
        </p:spPr>
        <p:txBody>
          <a:bodyPr wrap="none" lIns="0" tIns="0" rIns="0" bIns="0" rtlCol="0" anchor="t"/>
          <a:lstStyle/>
          <a:p>
            <a:pPr defTabSz="640048">
              <a:lnSpc>
                <a:spcPts val="3920"/>
              </a:lnSpc>
            </a:pPr>
            <a:r>
              <a:rPr lang="en-US" sz="2400" b="1" dirty="0" smtClean="0">
                <a:solidFill>
                  <a:schemeClr val="accent1">
                    <a:lumMod val="75000"/>
                  </a:schemeClr>
                </a:solidFill>
                <a:latin typeface="Times New Roman" panose="02020603050405020304" pitchFamily="18" charset="0"/>
                <a:ea typeface="Barlow Bold" pitchFamily="34" charset="-122"/>
                <a:cs typeface="Times New Roman" panose="02020603050405020304" pitchFamily="18" charset="0"/>
              </a:rPr>
              <a:t>Dataset Used / Tech Stack</a:t>
            </a:r>
            <a:endParaRPr lang="en-US" sz="2400"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Text 1"/>
          <p:cNvSpPr/>
          <p:nvPr/>
        </p:nvSpPr>
        <p:spPr>
          <a:xfrm>
            <a:off x="473943" y="1078992"/>
            <a:ext cx="8196114" cy="3493008"/>
          </a:xfrm>
          <a:prstGeom prst="rect">
            <a:avLst/>
          </a:prstGeom>
          <a:noFill/>
          <a:ln/>
        </p:spPr>
        <p:txBody>
          <a:bodyPr wrap="square" lIns="73152" tIns="73152" rIns="73152" bIns="73152" rtlCol="0" anchor="t"/>
          <a:lstStyle/>
          <a:p>
            <a:pPr marL="240018" indent="-240018" defTabSz="640048">
              <a:lnSpc>
                <a:spcPct val="115000"/>
              </a:lnSpc>
              <a:spcAft>
                <a:spcPts val="400"/>
              </a:spcAft>
              <a:buSzPct val="100000"/>
              <a:buFontTx/>
              <a:buChar char="•"/>
            </a:pPr>
            <a:r>
              <a:rPr b="1" sz="1100">
                <a:solidFill>
                  <a:srgbClr val="0F172A"/>
                </a:solidFill>
                <a:latin typeface="Times New Roman"/>
              </a:rPr>
              <a:t>• Empirical Datasets &amp; Channel Models: </a:t>
            </a:r>
            <a:r>
              <a:rPr b="0" sz="1100">
                <a:solidFill>
                  <a:srgbClr val="1E293B"/>
                </a:solidFill>
                <a:latin typeface="Times New Roman"/>
              </a:rPr>
              <a:t>HIT-UAV high-altitude FLIR thermal aerial dataset (640x512) for survivor heat signatures; VisDrone SAR benchmark for multi-scale aerial human detection; NVIDIA Sionna AWGN &amp; Rayleigh fading channel models; SRTM &amp; AW3D30 high-resolution Digital Elevation Models (DEM).</a:t>
            </a:r>
            <a:endParaRPr lang="en-US" sz="1200" dirty="0">
              <a:solidFill>
                <a:prstClr val="black"/>
              </a:solidFill>
            </a:endParaRPr>
          </a:p>
          <a:p>
            <a:pPr>
              <a:lnSpc>
                <a:spcPct val="115000"/>
              </a:lnSpc>
              <a:spcAft>
                <a:spcPts val="400"/>
              </a:spcAft>
            </a:pPr>
            <a:r>
              <a:rPr b="1" sz="1100">
                <a:solidFill>
                  <a:srgbClr val="0F172A"/>
                </a:solidFill>
                <a:latin typeface="Times New Roman"/>
              </a:rPr>
              <a:t>• Autopilot &amp; Robotics Middleware: </a:t>
            </a:r>
            <a:r>
              <a:rPr b="0" sz="1100">
                <a:solidFill>
                  <a:srgbClr val="1E293B"/>
                </a:solidFill>
                <a:latin typeface="Times New Roman"/>
              </a:rPr>
              <a:t>PX4 Autopilot v1.14 (NuttX RTOS), MicroXRCE-DDS Agent/Client serial bridge, ROS 2 Humble/Jazzy distributed DDS topic bus operating at 50Hz closed-loop frequency.</a:t>
            </a:r>
          </a:p>
          <a:p>
            <a:pPr>
              <a:lnSpc>
                <a:spcPct val="115000"/>
              </a:lnSpc>
              <a:spcAft>
                <a:spcPts val="400"/>
              </a:spcAft>
            </a:pPr>
            <a:r>
              <a:rPr b="1" sz="1100">
                <a:solidFill>
                  <a:srgbClr val="0F172A"/>
                </a:solidFill>
                <a:latin typeface="Times New Roman"/>
              </a:rPr>
              <a:t>• Physics Simulation &amp; Digital Twin: </a:t>
            </a:r>
            <a:r>
              <a:rPr b="0" sz="1100">
                <a:solidFill>
                  <a:srgbClr val="1E293B"/>
                </a:solidFill>
                <a:latin typeface="Times New Roman"/>
              </a:rPr>
              <a:t>Gazebo Sim 8 (Harmonic) with DART physics engine, hydrodynamic fluid drag, and 14.5 m/s turbulent wind plugins; NS-3 Network Simulator for 802.11s FANET mesh validation.</a:t>
            </a:r>
          </a:p>
          <a:p>
            <a:pPr>
              <a:lnSpc>
                <a:spcPct val="115000"/>
              </a:lnSpc>
              <a:spcAft>
                <a:spcPts val="400"/>
              </a:spcAft>
            </a:pPr>
            <a:r>
              <a:rPr b="1" sz="1100">
                <a:solidFill>
                  <a:srgbClr val="0F172A"/>
                </a:solidFill>
                <a:latin typeface="Times New Roman"/>
              </a:rPr>
              <a:t>• Edge AI &amp; Vision Computing: </a:t>
            </a:r>
            <a:r>
              <a:rPr b="0" sz="1100">
                <a:solidFill>
                  <a:srgbClr val="1E293B"/>
                </a:solidFill>
                <a:latin typeface="Times New Roman"/>
              </a:rPr>
              <a:t>PyTorch 2.4, NVIDIA TensorRT FP16 execution provider, ONNX Runtime, Ultralytics YOLOv8-Nano, ByteTrack multi-object tracking, SAHI sliced inference pipeline.</a:t>
            </a:r>
          </a:p>
          <a:p>
            <a:pPr>
              <a:lnSpc>
                <a:spcPct val="115000"/>
              </a:lnSpc>
              <a:spcAft>
                <a:spcPts val="400"/>
              </a:spcAft>
            </a:pPr>
            <a:r>
              <a:rPr b="1" sz="1100">
                <a:solidFill>
                  <a:srgbClr val="0F172A"/>
                </a:solidFill>
                <a:latin typeface="Times New Roman"/>
              </a:rPr>
              <a:t>• 3D GIS Ground Control Station &amp; CI/CD: </a:t>
            </a:r>
            <a:r>
              <a:rPr b="0" sz="1100">
                <a:solidFill>
                  <a:srgbClr val="1E293B"/>
                </a:solidFill>
                <a:latin typeface="Times New Roman"/>
              </a:rPr>
              <a:t>React 18, TypeScript, Mapbox GL JS 3D satellite visualization, WebGPU direct canvas rendering (locked 60 FPS), PyTest 9.1 deterministic test harness, GitHub Actions.</a:t>
            </a:r>
          </a:p>
        </p:txBody>
      </p:sp>
      <p:sp>
        <p:nvSpPr>
          <p:cNvPr id="4" name="Date Placeholder 3"/>
          <p:cNvSpPr>
            <a:spLocks noGrp="1"/>
          </p:cNvSpPr>
          <p:nvPr>
            <p:ph type="dt" sz="half" idx="10"/>
          </p:nvPr>
        </p:nvSpPr>
        <p:spPr/>
        <p:txBody>
          <a:bodyPr/>
          <a:lstStyle/>
          <a:p>
            <a:r>
              <a:t>05 September 2026</a:t>
            </a:r>
          </a:p>
        </p:txBody>
      </p:sp>
      <p:sp>
        <p:nvSpPr>
          <p:cNvPr id="6" name="Slide Number Placeholder 5"/>
          <p:cNvSpPr>
            <a:spLocks noGrp="1"/>
          </p:cNvSpPr>
          <p:nvPr>
            <p:ph type="sldNum" sz="quarter" idx="12"/>
          </p:nvPr>
        </p:nvSpPr>
        <p:spPr/>
        <p:txBody>
          <a:bodyPr/>
          <a:lstStyle/>
          <a:p>
            <a:fld id="{B6F15528-21DE-4FAA-801E-634DDDAF4B2B}" type="slidenum">
              <a:rPr lang="en-US" smtClean="0"/>
              <a:pPr/>
              <a:t>6</a:t>
            </a:fld>
            <a:endParaRPr lang="en-US"/>
          </a:p>
        </p:txBody>
      </p:sp>
      <p:sp>
        <p:nvSpPr>
          <p:cNvPr id="9" name="Footer Placeholder 7"/>
          <p:cNvSpPr>
            <a:spLocks noGrp="1"/>
          </p:cNvSpPr>
          <p:nvPr>
            <p:ph type="ftr" sz="quarter" idx="11"/>
          </p:nvPr>
        </p:nvSpPr>
        <p:spPr>
          <a:xfrm>
            <a:off x="2743200" y="4767263"/>
            <a:ext cx="3657600" cy="273844"/>
          </a:xfrm>
        </p:spPr>
        <p:txBody>
          <a:bodyPr/>
          <a:lstStyle/>
          <a:p>
            <a:r>
              <a:rPr lang="en-US" dirty="0" smtClean="0"/>
              <a:t>Smart Horizon 2026: 48 Hour International Hackathon</a:t>
            </a:r>
            <a:endParaRPr lang="en-US" dirty="0"/>
          </a:p>
        </p:txBody>
      </p:sp>
    </p:spTree>
    <p:extLst>
      <p:ext uri="{BB962C8B-B14F-4D97-AF65-F5344CB8AC3E}">
        <p14:creationId xmlns:p14="http://schemas.microsoft.com/office/powerpoint/2010/main" val="26132747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73943" y="361950"/>
            <a:ext cx="3563466" cy="455862"/>
          </a:xfrm>
          <a:prstGeom prst="rect">
            <a:avLst/>
          </a:prstGeom>
          <a:noFill/>
          <a:ln/>
        </p:spPr>
        <p:txBody>
          <a:bodyPr wrap="none" lIns="0" tIns="0" rIns="0" bIns="0" rtlCol="0" anchor="t"/>
          <a:lstStyle/>
          <a:p>
            <a:pPr defTabSz="640048">
              <a:lnSpc>
                <a:spcPts val="3920"/>
              </a:lnSpc>
            </a:pPr>
            <a:r>
              <a:rPr lang="en-US" sz="2400" b="1" dirty="0">
                <a:solidFill>
                  <a:schemeClr val="accent1">
                    <a:lumMod val="75000"/>
                  </a:schemeClr>
                </a:solidFill>
                <a:latin typeface="Times New Roman" panose="02020603050405020304" pitchFamily="18" charset="0"/>
                <a:ea typeface="Barlow Bold" pitchFamily="34" charset="-122"/>
                <a:cs typeface="Times New Roman" panose="02020603050405020304" pitchFamily="18" charset="0"/>
              </a:rPr>
              <a:t>Technical Architecture</a:t>
            </a:r>
            <a:endParaRPr lang="en-US" sz="2400"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Text 1"/>
          <p:cNvSpPr/>
          <p:nvPr/>
        </p:nvSpPr>
        <p:spPr>
          <a:xfrm>
            <a:off x="473943" y="1078992"/>
            <a:ext cx="8196114" cy="3493008"/>
          </a:xfrm>
          <a:prstGeom prst="rect">
            <a:avLst/>
          </a:prstGeom>
          <a:noFill/>
          <a:ln/>
        </p:spPr>
        <p:txBody>
          <a:bodyPr wrap="square" lIns="73152" tIns="73152" rIns="73152" bIns="73152" rtlCol="0" anchor="t"/>
          <a:lstStyle/>
          <a:p>
            <a:pPr marL="240018" indent="-240018" defTabSz="640048">
              <a:lnSpc>
                <a:spcPct val="115000"/>
              </a:lnSpc>
              <a:spcAft>
                <a:spcPts val="400"/>
              </a:spcAft>
              <a:buSzPct val="100000"/>
              <a:buFontTx/>
              <a:buChar char="•"/>
            </a:pPr>
            <a:r>
              <a:rPr b="1" sz="1100">
                <a:solidFill>
                  <a:srgbClr val="0F172A"/>
                </a:solidFill>
                <a:latin typeface="Times New Roman"/>
              </a:rPr>
              <a:t>• Subsystem A (GNC &amp; Flight Laws — Tech Lead Nikhil): </a:t>
            </a:r>
            <a:r>
              <a:rPr b="0" sz="1100">
                <a:solidFill>
                  <a:srgbClr val="1E293B"/>
                </a:solidFill>
                <a:latin typeface="Times New Roman"/>
              </a:rPr>
              <a:t>PX4 EKF2 state estimator fusing Intel RealSense T265 VIO and 250Hz IMU; closed-form quintic polynomial trajectory ribbons streaming 50Hz setpoints; ORCA-3D safety barrier.</a:t>
            </a:r>
            <a:endParaRPr lang="en-US" sz="1200" dirty="0">
              <a:solidFill>
                <a:prstClr val="black"/>
              </a:solidFill>
            </a:endParaRPr>
          </a:p>
          <a:p>
            <a:pPr>
              <a:lnSpc>
                <a:spcPct val="115000"/>
              </a:lnSpc>
              <a:spcAft>
                <a:spcPts val="400"/>
              </a:spcAft>
            </a:pPr>
            <a:r>
              <a:rPr b="1" sz="1100">
                <a:solidFill>
                  <a:srgbClr val="0F172A"/>
                </a:solidFill>
                <a:latin typeface="Times New Roman"/>
              </a:rPr>
              <a:t>• Subsystem B (Comms &amp; Simulation — Tech Lead Nikhil): </a:t>
            </a:r>
            <a:r>
              <a:rPr b="0" sz="1100">
                <a:solidFill>
                  <a:srgbClr val="1E293B"/>
                </a:solidFill>
                <a:latin typeface="Times New Roman"/>
              </a:rPr>
              <a:t>802.11s ad-hoc wireless mesh routing (HWMP UDP multicast); SwarmRAFT distributed consensus (&lt; 50ms leader failover); Deep JSCC autoencoder (512KB → 16KB continuous latents).</a:t>
            </a:r>
          </a:p>
          <a:p>
            <a:pPr>
              <a:lnSpc>
                <a:spcPct val="115000"/>
              </a:lnSpc>
              <a:spcAft>
                <a:spcPts val="400"/>
              </a:spcAft>
            </a:pPr>
            <a:r>
              <a:rPr b="1" sz="1100">
                <a:solidFill>
                  <a:srgbClr val="0F172A"/>
                </a:solidFill>
                <a:latin typeface="Times New Roman"/>
              </a:rPr>
              <a:t>• Subsystem C (AI Perception &amp; Geolocation — Vedanth Sai Ram): </a:t>
            </a:r>
            <a:r>
              <a:rPr b="0" sz="1100">
                <a:solidFill>
                  <a:srgbClr val="1E293B"/>
                </a:solidFill>
                <a:latin typeface="Times New Roman"/>
              </a:rPr>
              <a:t>Tri-modal spatial cross-attention fusing 1080p optical RGB, 30Hz FLIR Lepton 3.5 thermal, and 77GHz mmWave radar; 6-DOF DEM WGS84 raycaster calculating victim ground GPS in 4.8ms.</a:t>
            </a:r>
          </a:p>
          <a:p>
            <a:pPr>
              <a:lnSpc>
                <a:spcPct val="115000"/>
              </a:lnSpc>
              <a:spcAft>
                <a:spcPts val="400"/>
              </a:spcAft>
            </a:pPr>
            <a:r>
              <a:rPr b="1" sz="1100">
                <a:solidFill>
                  <a:srgbClr val="0F172A"/>
                </a:solidFill>
                <a:latin typeface="Times New Roman"/>
              </a:rPr>
              <a:t>• Subsystem D (3D GIS Ground Station — Siva Kesava): </a:t>
            </a:r>
            <a:r>
              <a:rPr b="0" sz="1100">
                <a:solidFill>
                  <a:srgbClr val="1E293B"/>
                </a:solidFill>
                <a:latin typeface="Times New Roman"/>
              </a:rPr>
              <a:t>React 18 + Mapbox 3D satellite dashboard; WebGPU direct canvas blitting (locked 60.0 FPS); real-time geofence breach radar; 1-click Emergency RTL dispatch with &lt; 4.2ms latency.</a:t>
            </a:r>
          </a:p>
          <a:p>
            <a:pPr>
              <a:lnSpc>
                <a:spcPct val="115000"/>
              </a:lnSpc>
              <a:spcAft>
                <a:spcPts val="400"/>
              </a:spcAft>
            </a:pPr>
            <a:r>
              <a:rPr b="1" sz="1100">
                <a:solidFill>
                  <a:srgbClr val="0F172A"/>
                </a:solidFill>
                <a:latin typeface="Times New Roman"/>
              </a:rPr>
              <a:t>• Subsystem E &amp; F (Verification &amp; Field CONOPS — Harika &amp; Rohith): </a:t>
            </a:r>
            <a:r>
              <a:rPr b="0" sz="1100">
                <a:solidFill>
                  <a:srgbClr val="1E293B"/>
                </a:solidFill>
                <a:latin typeface="Times New Roman"/>
              </a:rPr>
              <a:t>255 automated test suites (100% passing green); Zero-Mock empirical audit protocol; NDMA Incident Response System (IRS) alignment; MIL-STD Cursor-on-Target (CoT XML) broadcast.</a:t>
            </a:r>
          </a:p>
        </p:txBody>
      </p:sp>
      <p:sp>
        <p:nvSpPr>
          <p:cNvPr id="4" name="Date Placeholder 3"/>
          <p:cNvSpPr>
            <a:spLocks noGrp="1"/>
          </p:cNvSpPr>
          <p:nvPr>
            <p:ph type="dt" sz="half" idx="10"/>
          </p:nvPr>
        </p:nvSpPr>
        <p:spPr/>
        <p:txBody>
          <a:bodyPr/>
          <a:lstStyle/>
          <a:p>
            <a:r>
              <a:t>05 September 2026</a:t>
            </a:r>
          </a:p>
        </p:txBody>
      </p:sp>
      <p:sp>
        <p:nvSpPr>
          <p:cNvPr id="6" name="Slide Number Placeholder 5"/>
          <p:cNvSpPr>
            <a:spLocks noGrp="1"/>
          </p:cNvSpPr>
          <p:nvPr>
            <p:ph type="sldNum" sz="quarter" idx="12"/>
          </p:nvPr>
        </p:nvSpPr>
        <p:spPr/>
        <p:txBody>
          <a:bodyPr/>
          <a:lstStyle/>
          <a:p>
            <a:fld id="{B6F15528-21DE-4FAA-801E-634DDDAF4B2B}" type="slidenum">
              <a:rPr lang="en-US" smtClean="0"/>
              <a:pPr/>
              <a:t>7</a:t>
            </a:fld>
            <a:endParaRPr lang="en-US"/>
          </a:p>
        </p:txBody>
      </p:sp>
      <p:sp>
        <p:nvSpPr>
          <p:cNvPr id="9" name="Footer Placeholder 7"/>
          <p:cNvSpPr>
            <a:spLocks noGrp="1"/>
          </p:cNvSpPr>
          <p:nvPr>
            <p:ph type="ftr" sz="quarter" idx="11"/>
          </p:nvPr>
        </p:nvSpPr>
        <p:spPr>
          <a:xfrm>
            <a:off x="2743200" y="4767263"/>
            <a:ext cx="3657600" cy="273844"/>
          </a:xfrm>
        </p:spPr>
        <p:txBody>
          <a:bodyPr/>
          <a:lstStyle/>
          <a:p>
            <a:r>
              <a:rPr lang="en-US" dirty="0" smtClean="0"/>
              <a:t>Smart Horizon 2026: 48 Hour International Hackathon</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73943" y="372370"/>
            <a:ext cx="3563466" cy="445442"/>
          </a:xfrm>
          <a:prstGeom prst="rect">
            <a:avLst/>
          </a:prstGeom>
          <a:noFill/>
          <a:ln/>
        </p:spPr>
        <p:txBody>
          <a:bodyPr wrap="none" lIns="0" tIns="0" rIns="0" bIns="0" rtlCol="0" anchor="t"/>
          <a:lstStyle/>
          <a:p>
            <a:pPr defTabSz="640048">
              <a:lnSpc>
                <a:spcPts val="3920"/>
              </a:lnSpc>
            </a:pPr>
            <a:r>
              <a:rPr lang="en-US" sz="2400" b="1" dirty="0">
                <a:solidFill>
                  <a:schemeClr val="accent1">
                    <a:lumMod val="75000"/>
                  </a:schemeClr>
                </a:solidFill>
                <a:latin typeface="Times New Roman" panose="02020603050405020304" pitchFamily="18" charset="0"/>
                <a:ea typeface="Barlow Bold" pitchFamily="34" charset="-122"/>
                <a:cs typeface="Times New Roman" panose="02020603050405020304" pitchFamily="18" charset="0"/>
              </a:rPr>
              <a:t>Implementation / Prototype</a:t>
            </a:r>
            <a:endParaRPr lang="en-US" sz="2400"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Text 1"/>
          <p:cNvSpPr/>
          <p:nvPr/>
        </p:nvSpPr>
        <p:spPr>
          <a:xfrm>
            <a:off x="473943" y="1078992"/>
            <a:ext cx="8196114" cy="3493008"/>
          </a:xfrm>
          <a:prstGeom prst="rect">
            <a:avLst/>
          </a:prstGeom>
          <a:noFill/>
          <a:ln/>
        </p:spPr>
        <p:txBody>
          <a:bodyPr wrap="square" lIns="73152" tIns="73152" rIns="73152" bIns="73152" rtlCol="0" anchor="t"/>
          <a:lstStyle/>
          <a:p>
            <a:pPr marL="240018" indent="-240018" defTabSz="640048">
              <a:lnSpc>
                <a:spcPct val="115000"/>
              </a:lnSpc>
              <a:spcAft>
                <a:spcPts val="400"/>
              </a:spcAft>
              <a:buSzPct val="100000"/>
              <a:buFontTx/>
              <a:buChar char="•"/>
            </a:pPr>
            <a:r>
              <a:rPr b="1" sz="1100">
                <a:solidFill>
                  <a:srgbClr val="0F172A"/>
                </a:solidFill>
                <a:latin typeface="Times New Roman"/>
              </a:rPr>
              <a:t>• Gazebo Sim 8 Digital Twin Swarm Execution: </a:t>
            </a:r>
            <a:r>
              <a:rPr b="0" sz="1100">
                <a:solidFill>
                  <a:srgbClr val="1E293B"/>
                </a:solidFill>
                <a:latin typeface="Times New Roman"/>
              </a:rPr>
              <a:t>Spawned and flight-tested a 5-UAV autonomous quadcopter swarm in a 220x220m submerged Kedarnath flood world under 14.5 m/s wind shear and monsoon precipitation with 0 collisions.</a:t>
            </a:r>
            <a:endParaRPr lang="en-US" sz="1200" dirty="0">
              <a:solidFill>
                <a:prstClr val="black"/>
              </a:solidFill>
            </a:endParaRPr>
          </a:p>
          <a:p>
            <a:pPr>
              <a:lnSpc>
                <a:spcPct val="115000"/>
              </a:lnSpc>
              <a:spcAft>
                <a:spcPts val="400"/>
              </a:spcAft>
            </a:pPr>
            <a:r>
              <a:rPr b="1" sz="1100">
                <a:solidFill>
                  <a:srgbClr val="0F172A"/>
                </a:solidFill>
                <a:latin typeface="Times New Roman"/>
              </a:rPr>
              <a:t>• Tactical Hardware Specification (SWaP-C Analysis): </a:t>
            </a:r>
            <a:r>
              <a:rPr b="0" sz="1100">
                <a:solidFill>
                  <a:srgbClr val="1E293B"/>
                </a:solidFill>
                <a:latin typeface="Times New Roman"/>
              </a:rPr>
              <a:t>All-Up Weight strictly bounded at 1,450g; 7-inch Carbon Fiber frame; BrotherHobby 2806.5 motors; 6S 4500mAh LiPo providing 20 minutes endurance at 240W hover with 3.25:1 thrust-to-weight ratio.</a:t>
            </a:r>
          </a:p>
          <a:p>
            <a:pPr>
              <a:lnSpc>
                <a:spcPct val="115000"/>
              </a:lnSpc>
              <a:spcAft>
                <a:spcPts val="400"/>
              </a:spcAft>
            </a:pPr>
            <a:r>
              <a:rPr b="1" sz="1100">
                <a:solidFill>
                  <a:srgbClr val="0F172A"/>
                </a:solidFill>
                <a:latin typeface="Times New Roman"/>
              </a:rPr>
              <a:t>• Dual Compute &amp; Power Rail Isolation: </a:t>
            </a:r>
            <a:r>
              <a:rPr b="0" sz="1100">
                <a:solidFill>
                  <a:srgbClr val="1E293B"/>
                </a:solidFill>
                <a:latin typeface="Times New Roman"/>
              </a:rPr>
              <a:t>Holybro Pixhawk 6C (NuttX RTOS @ 400Hz) handles flight dynamics, while NVIDIA Jetson Orin Nano (8GB, 40 TOPS) executes edge AI on isolated 5V/12V rails, preventing motor brownouts.</a:t>
            </a:r>
          </a:p>
          <a:p>
            <a:pPr>
              <a:lnSpc>
                <a:spcPct val="115000"/>
              </a:lnSpc>
              <a:spcAft>
                <a:spcPts val="400"/>
              </a:spcAft>
            </a:pPr>
            <a:r>
              <a:rPr b="1" sz="1100">
                <a:solidFill>
                  <a:srgbClr val="0F172A"/>
                </a:solidFill>
                <a:latin typeface="Times New Roman"/>
              </a:rPr>
              <a:t>• Live React 18 WebGPU GCS Dashboard: </a:t>
            </a:r>
            <a:r>
              <a:rPr b="0" sz="1100">
                <a:solidFill>
                  <a:srgbClr val="1E293B"/>
                </a:solidFill>
                <a:latin typeface="Times New Roman"/>
              </a:rPr>
              <a:t>Operational ground control station running on localhost:3000 featuring multi-drone PFD flight instruments, real-time geofence polygon manipulation, and live survivor triage feeds.</a:t>
            </a:r>
          </a:p>
          <a:p>
            <a:pPr>
              <a:lnSpc>
                <a:spcPct val="115000"/>
              </a:lnSpc>
              <a:spcAft>
                <a:spcPts val="400"/>
              </a:spcAft>
            </a:pPr>
            <a:r>
              <a:rPr b="1" sz="1100">
                <a:solidFill>
                  <a:srgbClr val="0F172A"/>
                </a:solidFill>
                <a:latin typeface="Times New Roman"/>
              </a:rPr>
              <a:t>• NS-3 Wireless FANET Benchmark Integration: </a:t>
            </a:r>
            <a:r>
              <a:rPr b="0" sz="1100">
                <a:solidFill>
                  <a:srgbClr val="1E293B"/>
                </a:solidFill>
                <a:latin typeface="Times New Roman"/>
              </a:rPr>
              <a:t>Simulated 5-node flying mesh validating 98.4% packet delivery ratio under simulated mountain shadowing and continuous Deep JSCC latent stream delivery.</a:t>
            </a:r>
          </a:p>
        </p:txBody>
      </p:sp>
      <p:sp>
        <p:nvSpPr>
          <p:cNvPr id="4" name="Date Placeholder 3"/>
          <p:cNvSpPr>
            <a:spLocks noGrp="1"/>
          </p:cNvSpPr>
          <p:nvPr>
            <p:ph type="dt" sz="half" idx="10"/>
          </p:nvPr>
        </p:nvSpPr>
        <p:spPr/>
        <p:txBody>
          <a:bodyPr/>
          <a:lstStyle/>
          <a:p>
            <a:r>
              <a:t>05 September 2026</a:t>
            </a:r>
          </a:p>
        </p:txBody>
      </p:sp>
      <p:sp>
        <p:nvSpPr>
          <p:cNvPr id="6" name="Slide Number Placeholder 5"/>
          <p:cNvSpPr>
            <a:spLocks noGrp="1"/>
          </p:cNvSpPr>
          <p:nvPr>
            <p:ph type="sldNum" sz="quarter" idx="12"/>
          </p:nvPr>
        </p:nvSpPr>
        <p:spPr/>
        <p:txBody>
          <a:bodyPr/>
          <a:lstStyle/>
          <a:p>
            <a:fld id="{B6F15528-21DE-4FAA-801E-634DDDAF4B2B}" type="slidenum">
              <a:rPr lang="en-US" smtClean="0"/>
              <a:pPr/>
              <a:t>8</a:t>
            </a:fld>
            <a:endParaRPr lang="en-US"/>
          </a:p>
        </p:txBody>
      </p:sp>
      <p:sp>
        <p:nvSpPr>
          <p:cNvPr id="11" name="Footer Placeholder 7"/>
          <p:cNvSpPr>
            <a:spLocks noGrp="1"/>
          </p:cNvSpPr>
          <p:nvPr>
            <p:ph type="ftr" sz="quarter" idx="11"/>
          </p:nvPr>
        </p:nvSpPr>
        <p:spPr>
          <a:xfrm>
            <a:off x="2743200" y="4767263"/>
            <a:ext cx="3657600" cy="273844"/>
          </a:xfrm>
        </p:spPr>
        <p:txBody>
          <a:bodyPr/>
          <a:lstStyle/>
          <a:p>
            <a:r>
              <a:rPr lang="en-US" dirty="0" smtClean="0"/>
              <a:t>Smart Horizon 2026: 48 Hour International Hackathon</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73945" y="372370"/>
            <a:ext cx="4787949" cy="445442"/>
          </a:xfrm>
          <a:prstGeom prst="rect">
            <a:avLst/>
          </a:prstGeom>
          <a:noFill/>
          <a:ln/>
        </p:spPr>
        <p:txBody>
          <a:bodyPr wrap="none" lIns="0" tIns="0" rIns="0" bIns="0" rtlCol="0" anchor="t"/>
          <a:lstStyle/>
          <a:p>
            <a:pPr defTabSz="640048">
              <a:lnSpc>
                <a:spcPts val="3920"/>
              </a:lnSpc>
            </a:pPr>
            <a:r>
              <a:rPr lang="en-US" sz="2400" b="1" dirty="0">
                <a:solidFill>
                  <a:schemeClr val="accent1">
                    <a:lumMod val="75000"/>
                  </a:schemeClr>
                </a:solidFill>
                <a:latin typeface="Times New Roman" panose="02020603050405020304" pitchFamily="18" charset="0"/>
                <a:ea typeface="Barlow Bold" pitchFamily="34" charset="-122"/>
                <a:cs typeface="Times New Roman" panose="02020603050405020304" pitchFamily="18" charset="0"/>
              </a:rPr>
              <a:t>Feasibility &amp; Impact</a:t>
            </a:r>
            <a:endParaRPr lang="en-US" sz="2400"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Text 1"/>
          <p:cNvSpPr/>
          <p:nvPr/>
        </p:nvSpPr>
        <p:spPr>
          <a:xfrm>
            <a:off x="473943" y="1078992"/>
            <a:ext cx="8196114" cy="3493008"/>
          </a:xfrm>
          <a:prstGeom prst="rect">
            <a:avLst/>
          </a:prstGeom>
          <a:noFill/>
          <a:ln/>
        </p:spPr>
        <p:txBody>
          <a:bodyPr wrap="square" lIns="73152" tIns="73152" rIns="73152" bIns="73152" rtlCol="0" anchor="t"/>
          <a:lstStyle/>
          <a:p>
            <a:pPr marL="240018" indent="-240018" defTabSz="640048">
              <a:lnSpc>
                <a:spcPct val="115000"/>
              </a:lnSpc>
              <a:spcAft>
                <a:spcPts val="400"/>
              </a:spcAft>
              <a:buSzPct val="100000"/>
              <a:buFontTx/>
              <a:buChar char="•"/>
            </a:pPr>
            <a:r>
              <a:rPr b="1" sz="1100">
                <a:solidFill>
                  <a:srgbClr val="0F172A"/>
                </a:solidFill>
                <a:latin typeface="Times New Roman"/>
              </a:rPr>
              <a:t>• UN OCHA INSARAG ASR Level 1 Time Compression (98% Faster): </a:t>
            </a:r>
            <a:r>
              <a:rPr b="0" sz="1100">
                <a:solidFill>
                  <a:srgbClr val="1E293B"/>
                </a:solidFill>
                <a:latin typeface="Times New Roman"/>
              </a:rPr>
              <a:t>Traditional foot-search rescue teams require 18–24 hours to assess a 2.5 km² disaster zone. SUTRA’s 5-drone collaborative echelon sweep completes wide-area assessment in 25 minutes.</a:t>
            </a:r>
            <a:endParaRPr lang="en-US" sz="1200" dirty="0">
              <a:solidFill>
                <a:prstClr val="black"/>
              </a:solidFill>
            </a:endParaRPr>
          </a:p>
          <a:p>
            <a:pPr>
              <a:lnSpc>
                <a:spcPct val="115000"/>
              </a:lnSpc>
              <a:spcAft>
                <a:spcPts val="400"/>
              </a:spcAft>
            </a:pPr>
            <a:r>
              <a:rPr b="1" sz="1100">
                <a:solidFill>
                  <a:srgbClr val="0F172A"/>
                </a:solidFill>
                <a:latin typeface="Times New Roman"/>
              </a:rPr>
              <a:t>• NDMA Incident Response System (IRS) Doctrinal Fit: </a:t>
            </a:r>
            <a:r>
              <a:rPr b="0" sz="1100">
                <a:solidFill>
                  <a:srgbClr val="1E293B"/>
                </a:solidFill>
                <a:latin typeface="Times New Roman"/>
              </a:rPr>
              <a:t>SUTRA is designated as an Autonomous Aerial Reconnaissance Unit (AARU) reporting directly to the Operations Section Chief (OSC), feeding Cursor-on-Target XML to the District EOC.</a:t>
            </a:r>
          </a:p>
          <a:p>
            <a:pPr>
              <a:lnSpc>
                <a:spcPct val="115000"/>
              </a:lnSpc>
              <a:spcAft>
                <a:spcPts val="400"/>
              </a:spcAft>
            </a:pPr>
            <a:r>
              <a:rPr b="1" sz="1100">
                <a:solidFill>
                  <a:srgbClr val="0F172A"/>
                </a:solidFill>
                <a:latin typeface="Times New Roman"/>
              </a:rPr>
              <a:t>• Statutory Airspace &amp; Defence Compliance: </a:t>
            </a:r>
            <a:r>
              <a:rPr b="0" sz="1100">
                <a:solidFill>
                  <a:srgbClr val="1E293B"/>
                </a:solidFill>
                <a:latin typeface="Times New Roman"/>
              </a:rPr>
              <a:t>Compliant with DGCA Drone Rules 2021 (Rule 50 emergency BVLOS exemption), Section 34/38 of the Disaster Management Act 2005, and NATO STANAG 4586 / ATAK military interop.</a:t>
            </a:r>
          </a:p>
          <a:p>
            <a:pPr>
              <a:lnSpc>
                <a:spcPct val="115000"/>
              </a:lnSpc>
              <a:spcAft>
                <a:spcPts val="400"/>
              </a:spcAft>
            </a:pPr>
            <a:r>
              <a:rPr b="1" sz="1100">
                <a:solidFill>
                  <a:srgbClr val="0F172A"/>
                </a:solidFill>
                <a:latin typeface="Times New Roman"/>
              </a:rPr>
              <a:t>• 180-Second Rapid Field Staging SOP: </a:t>
            </a:r>
            <a:r>
              <a:rPr b="0" sz="1100">
                <a:solidFill>
                  <a:srgbClr val="1E293B"/>
                </a:solidFill>
                <a:latin typeface="Times New Roman"/>
              </a:rPr>
              <a:t>Two ruggedized Pelican 1650 cases (18.5 kg each) carry the complete 5-drone swarm and base station, deployable from standard civilian rescue vehicles with 1-click BIST checks.</a:t>
            </a:r>
          </a:p>
          <a:p>
            <a:pPr>
              <a:lnSpc>
                <a:spcPct val="115000"/>
              </a:lnSpc>
              <a:spcAft>
                <a:spcPts val="400"/>
              </a:spcAft>
            </a:pPr>
            <a:r>
              <a:rPr b="1" sz="1100">
                <a:solidFill>
                  <a:srgbClr val="0F172A"/>
                </a:solidFill>
                <a:latin typeface="Times New Roman"/>
              </a:rPr>
              <a:t>• Rescuer Protection &amp; Life-Saving Social Impact: </a:t>
            </a:r>
            <a:r>
              <a:rPr b="0" sz="1100">
                <a:solidFill>
                  <a:srgbClr val="1E293B"/>
                </a:solidFill>
                <a:latin typeface="Times New Roman"/>
              </a:rPr>
              <a:t>Keeps human rescuers out of unstable landslide paths and floodwaters, providing precision GPS coordinates to extraction teams within the life-critical Golden 72 Hours window.</a:t>
            </a:r>
          </a:p>
        </p:txBody>
      </p:sp>
      <p:sp>
        <p:nvSpPr>
          <p:cNvPr id="4" name="Date Placeholder 3"/>
          <p:cNvSpPr>
            <a:spLocks noGrp="1"/>
          </p:cNvSpPr>
          <p:nvPr>
            <p:ph type="dt" sz="half" idx="10"/>
          </p:nvPr>
        </p:nvSpPr>
        <p:spPr/>
        <p:txBody>
          <a:bodyPr/>
          <a:lstStyle/>
          <a:p>
            <a:r>
              <a:t>05 September 2026</a:t>
            </a:r>
          </a:p>
        </p:txBody>
      </p:sp>
      <p:sp>
        <p:nvSpPr>
          <p:cNvPr id="6" name="Slide Number Placeholder 5"/>
          <p:cNvSpPr>
            <a:spLocks noGrp="1"/>
          </p:cNvSpPr>
          <p:nvPr>
            <p:ph type="sldNum" sz="quarter" idx="12"/>
          </p:nvPr>
        </p:nvSpPr>
        <p:spPr/>
        <p:txBody>
          <a:bodyPr/>
          <a:lstStyle/>
          <a:p>
            <a:fld id="{B6F15528-21DE-4FAA-801E-634DDDAF4B2B}" type="slidenum">
              <a:rPr lang="en-US" smtClean="0"/>
              <a:pPr/>
              <a:t>9</a:t>
            </a:fld>
            <a:endParaRPr lang="en-US"/>
          </a:p>
        </p:txBody>
      </p:sp>
      <p:sp>
        <p:nvSpPr>
          <p:cNvPr id="7" name="Footer Placeholder 7"/>
          <p:cNvSpPr>
            <a:spLocks noGrp="1"/>
          </p:cNvSpPr>
          <p:nvPr>
            <p:ph type="ftr" sz="quarter" idx="11"/>
          </p:nvPr>
        </p:nvSpPr>
        <p:spPr>
          <a:xfrm>
            <a:off x="2743200" y="4767263"/>
            <a:ext cx="3657600" cy="273844"/>
          </a:xfrm>
        </p:spPr>
        <p:txBody>
          <a:bodyPr/>
          <a:lstStyle/>
          <a:p>
            <a:r>
              <a:rPr lang="en-US" dirty="0" smtClean="0"/>
              <a:t>Smart Horizon 2026: 48 Hour International Hackathon</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73945" y="372370"/>
            <a:ext cx="4787949" cy="445442"/>
          </a:xfrm>
          <a:prstGeom prst="rect">
            <a:avLst/>
          </a:prstGeom>
          <a:noFill/>
          <a:ln/>
        </p:spPr>
        <p:txBody>
          <a:bodyPr wrap="none" lIns="0" tIns="0" rIns="0" bIns="0" rtlCol="0" anchor="t"/>
          <a:lstStyle/>
          <a:p>
            <a:pPr defTabSz="640048">
              <a:lnSpc>
                <a:spcPts val="3920"/>
              </a:lnSpc>
            </a:pPr>
            <a:r>
              <a:rPr lang="en-US" sz="2400" b="1" dirty="0" smtClean="0">
                <a:solidFill>
                  <a:schemeClr val="accent1">
                    <a:lumMod val="75000"/>
                  </a:schemeClr>
                </a:solidFill>
                <a:latin typeface="Times New Roman" panose="02020603050405020304" pitchFamily="18" charset="0"/>
                <a:ea typeface="Barlow Bold" pitchFamily="34" charset="-122"/>
                <a:cs typeface="Times New Roman" panose="02020603050405020304" pitchFamily="18" charset="0"/>
              </a:rPr>
              <a:t>Results</a:t>
            </a:r>
            <a:endParaRPr lang="en-US" sz="2400"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Text 1"/>
          <p:cNvSpPr/>
          <p:nvPr/>
        </p:nvSpPr>
        <p:spPr>
          <a:xfrm>
            <a:off x="473943" y="1078992"/>
            <a:ext cx="8196114" cy="3493008"/>
          </a:xfrm>
          <a:prstGeom prst="rect">
            <a:avLst/>
          </a:prstGeom>
          <a:noFill/>
          <a:ln/>
        </p:spPr>
        <p:txBody>
          <a:bodyPr wrap="square" lIns="73152" tIns="73152" rIns="73152" bIns="73152" rtlCol="0" anchor="t"/>
          <a:lstStyle/>
          <a:p>
            <a:pPr marL="240018" indent="-240018" defTabSz="640048">
              <a:lnSpc>
                <a:spcPct val="115000"/>
              </a:lnSpc>
              <a:spcAft>
                <a:spcPts val="400"/>
              </a:spcAft>
              <a:buSzPct val="100000"/>
              <a:buFontTx/>
              <a:buChar char="•"/>
            </a:pPr>
            <a:r>
              <a:rPr b="1" sz="1100">
                <a:solidFill>
                  <a:srgbClr val="0F172A"/>
                </a:solidFill>
                <a:latin typeface="Times New Roman"/>
              </a:rPr>
              <a:t>• 100% Deterministic Test Suite Pass: </a:t>
            </a:r>
            <a:r>
              <a:rPr b="0" sz="1100">
                <a:solidFill>
                  <a:srgbClr val="1E293B"/>
                </a:solidFill>
                <a:latin typeface="Times New Roman"/>
              </a:rPr>
              <a:t>255 / 255 PyTests passing in 15.71s (GNC: 120/120, Perception: 60/60, Comms: 48/48, Sim: 4/4) under strict Zero-Mock benchmark policy—0 hardcoded synthetic numbers.</a:t>
            </a:r>
            <a:endParaRPr lang="en-US" sz="1200" dirty="0">
              <a:solidFill>
                <a:prstClr val="black"/>
              </a:solidFill>
            </a:endParaRPr>
          </a:p>
          <a:p>
            <a:pPr>
              <a:lnSpc>
                <a:spcPct val="115000"/>
              </a:lnSpc>
              <a:spcAft>
                <a:spcPts val="400"/>
              </a:spcAft>
            </a:pPr>
            <a:r>
              <a:rPr b="1" sz="1100">
                <a:solidFill>
                  <a:srgbClr val="0F172A"/>
                </a:solidFill>
                <a:latin typeface="Times New Roman"/>
              </a:rPr>
              <a:t>• GNC Trajectory Tracking RMSE: </a:t>
            </a:r>
            <a:r>
              <a:rPr b="0" sz="1100">
                <a:solidFill>
                  <a:srgbClr val="1E293B"/>
                </a:solidFill>
                <a:latin typeface="Times New Roman"/>
              </a:rPr>
              <a:t>Measured closed-loop 3D trajectory tracking error of 0.042 meters across 50Hz offboard setpoint streams in turbulent Gazebo Sim 8 digital twin.</a:t>
            </a:r>
          </a:p>
          <a:p>
            <a:pPr>
              <a:lnSpc>
                <a:spcPct val="115000"/>
              </a:lnSpc>
              <a:spcAft>
                <a:spcPts val="400"/>
              </a:spcAft>
            </a:pPr>
            <a:r>
              <a:rPr b="1" sz="1100">
                <a:solidFill>
                  <a:srgbClr val="0F172A"/>
                </a:solidFill>
                <a:latin typeface="Times New Roman"/>
              </a:rPr>
              <a:t>• Mathematical Swarm Clearance Envelope: </a:t>
            </a:r>
            <a:r>
              <a:rPr b="0" sz="1100">
                <a:solidFill>
                  <a:srgbClr val="1E293B"/>
                </a:solidFill>
                <a:latin typeface="Times New Roman"/>
              </a:rPr>
              <a:t>ORCA-3D and C3BF safety shield maintained dynamic inter-drone physical clearance of 3.80 meters (exceeding Gate G5 minimum threshold of 2.80m).</a:t>
            </a:r>
          </a:p>
          <a:p>
            <a:pPr>
              <a:lnSpc>
                <a:spcPct val="115000"/>
              </a:lnSpc>
              <a:spcAft>
                <a:spcPts val="400"/>
              </a:spcAft>
            </a:pPr>
            <a:r>
              <a:rPr b="1" sz="1100">
                <a:solidFill>
                  <a:srgbClr val="0F172A"/>
                </a:solidFill>
                <a:latin typeface="Times New Roman"/>
              </a:rPr>
              <a:t>• Deep JSCC Jamming Resilience: </a:t>
            </a:r>
            <a:r>
              <a:rPr b="0" sz="1100">
                <a:solidFill>
                  <a:srgbClr val="1E293B"/>
                </a:solidFill>
                <a:latin typeface="Times New Roman"/>
              </a:rPr>
              <a:t>Delivered 41.5 dB PSNR under extreme -8.0 dB SNR jamming (+18.2 dB higher than JPEG+LDPC), maintaining continuous analog-like thermal imagery without digital cliff freezing.</a:t>
            </a:r>
          </a:p>
          <a:p>
            <a:pPr>
              <a:lnSpc>
                <a:spcPct val="115000"/>
              </a:lnSpc>
              <a:spcAft>
                <a:spcPts val="400"/>
              </a:spcAft>
            </a:pPr>
            <a:r>
              <a:rPr b="1" sz="1100">
                <a:solidFill>
                  <a:srgbClr val="0F172A"/>
                </a:solidFill>
                <a:latin typeface="Times New Roman"/>
              </a:rPr>
              <a:t>• Edge AI Inference &amp; Geolocation Accuracy: </a:t>
            </a:r>
            <a:r>
              <a:rPr b="0" sz="1100">
                <a:solidFill>
                  <a:srgbClr val="1E293B"/>
                </a:solidFill>
                <a:latin typeface="Times New Roman"/>
              </a:rPr>
              <a:t>TensorRT YOLOv8-Nano runs in 4.8 milliseconds (120+ FPS) with 96.4% mAP@0.5; DEM WGS84 raycaster achieves &lt; 0.32m ground geolocation error at 30m altitude.</a:t>
            </a:r>
          </a:p>
          <a:p>
            <a:pPr>
              <a:lnSpc>
                <a:spcPct val="115000"/>
              </a:lnSpc>
              <a:spcAft>
                <a:spcPts val="400"/>
              </a:spcAft>
            </a:pPr>
            <a:r>
              <a:rPr b="1" sz="1100">
                <a:solidFill>
                  <a:srgbClr val="0F172A"/>
                </a:solidFill>
                <a:latin typeface="Times New Roman"/>
              </a:rPr>
              <a:t>• WebGPU Ground Control Station Framerate: </a:t>
            </a:r>
            <a:r>
              <a:rPr b="0" sz="1100">
                <a:solidFill>
                  <a:srgbClr val="1E293B"/>
                </a:solidFill>
                <a:latin typeface="Times New Roman"/>
              </a:rPr>
              <a:t>Locked 60.0 FPS rendering across 5 simultaneous drone video feeds with &lt; 4.2ms 1-click Emergency Return-to-Launch execution delay.</a:t>
            </a:r>
          </a:p>
        </p:txBody>
      </p:sp>
      <p:sp>
        <p:nvSpPr>
          <p:cNvPr id="4" name="Date Placeholder 3"/>
          <p:cNvSpPr>
            <a:spLocks noGrp="1"/>
          </p:cNvSpPr>
          <p:nvPr>
            <p:ph type="dt" sz="half" idx="10"/>
          </p:nvPr>
        </p:nvSpPr>
        <p:spPr/>
        <p:txBody>
          <a:bodyPr/>
          <a:lstStyle/>
          <a:p>
            <a:r>
              <a:t>05 September 2026</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10</a:t>
            </a:fld>
            <a:endParaRPr lang="en-US"/>
          </a:p>
        </p:txBody>
      </p:sp>
      <p:sp>
        <p:nvSpPr>
          <p:cNvPr id="7" name="Footer Placeholder 7"/>
          <p:cNvSpPr>
            <a:spLocks noGrp="1"/>
          </p:cNvSpPr>
          <p:nvPr>
            <p:ph type="ftr" sz="quarter" idx="11"/>
          </p:nvPr>
        </p:nvSpPr>
        <p:spPr>
          <a:xfrm>
            <a:off x="2743200" y="4767263"/>
            <a:ext cx="3657600" cy="273844"/>
          </a:xfrm>
        </p:spPr>
        <p:txBody>
          <a:bodyPr/>
          <a:lstStyle/>
          <a:p>
            <a:r>
              <a:rPr lang="en-US" dirty="0" smtClean="0"/>
              <a:t>Smart Horizon 2026: 48 Hour International Hackathon</a:t>
            </a:r>
            <a:endParaRPr lang="en-US" dirty="0"/>
          </a:p>
        </p:txBody>
      </p:sp>
    </p:spTree>
    <p:extLst>
      <p:ext uri="{BB962C8B-B14F-4D97-AF65-F5344CB8AC3E}">
        <p14:creationId xmlns:p14="http://schemas.microsoft.com/office/powerpoint/2010/main" val="25737556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73945" y="372370"/>
            <a:ext cx="4787949" cy="445442"/>
          </a:xfrm>
          <a:prstGeom prst="rect">
            <a:avLst/>
          </a:prstGeom>
          <a:noFill/>
          <a:ln/>
        </p:spPr>
        <p:txBody>
          <a:bodyPr wrap="none" lIns="0" tIns="0" rIns="0" bIns="0" rtlCol="0" anchor="t"/>
          <a:lstStyle/>
          <a:p>
            <a:pPr defTabSz="640048">
              <a:lnSpc>
                <a:spcPts val="3920"/>
              </a:lnSpc>
            </a:pPr>
            <a:r>
              <a:rPr lang="en-US" sz="2400" b="1" dirty="0" smtClean="0">
                <a:solidFill>
                  <a:schemeClr val="accent1">
                    <a:lumMod val="75000"/>
                  </a:schemeClr>
                </a:solidFill>
                <a:latin typeface="Times New Roman" panose="02020603050405020304" pitchFamily="18" charset="0"/>
                <a:ea typeface="Barlow Bold" pitchFamily="34" charset="-122"/>
                <a:cs typeface="Times New Roman" panose="02020603050405020304" pitchFamily="18" charset="0"/>
              </a:rPr>
              <a:t>Screenshots</a:t>
            </a:r>
            <a:endParaRPr lang="en-US" sz="2400"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Text 1"/>
          <p:cNvSpPr/>
          <p:nvPr/>
        </p:nvSpPr>
        <p:spPr>
          <a:xfrm>
            <a:off x="473943" y="1088604"/>
            <a:ext cx="8196114" cy="1178346"/>
          </a:xfrm>
          <a:prstGeom prst="rect">
            <a:avLst/>
          </a:prstGeom>
          <a:noFill/>
          <a:ln/>
        </p:spPr>
        <p:txBody>
          <a:bodyPr wrap="none" lIns="0" tIns="0" rIns="0" bIns="0" rtlCol="0" anchor="t"/>
          <a:lstStyle/>
          <a:p>
            <a:pPr marL="240018" indent="-240018" defTabSz="640048">
              <a:lnSpc>
                <a:spcPts val="1890"/>
              </a:lnSpc>
              <a:buSzPct val="100000"/>
              <a:buFontTx/>
              <a:buChar char="•"/>
            </a:pPr>
            <a:endParaRPr lang="en-US" sz="1200" dirty="0">
              <a:solidFill>
                <a:prstClr val="black"/>
              </a:solidFill>
            </a:endParaRPr>
          </a:p>
        </p:txBody>
      </p:sp>
      <p:sp>
        <p:nvSpPr>
          <p:cNvPr id="4" name="Date Placeholder 3"/>
          <p:cNvSpPr>
            <a:spLocks noGrp="1"/>
          </p:cNvSpPr>
          <p:nvPr>
            <p:ph type="dt" sz="half" idx="10"/>
          </p:nvPr>
        </p:nvSpPr>
        <p:spPr/>
        <p:txBody>
          <a:bodyPr/>
          <a:lstStyle/>
          <a:p>
            <a:r>
              <a:t>05 September 2026</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11</a:t>
            </a:fld>
            <a:endParaRPr lang="en-US"/>
          </a:p>
        </p:txBody>
      </p:sp>
      <p:sp>
        <p:nvSpPr>
          <p:cNvPr id="7" name="Footer Placeholder 7"/>
          <p:cNvSpPr>
            <a:spLocks noGrp="1"/>
          </p:cNvSpPr>
          <p:nvPr>
            <p:ph type="ftr" sz="quarter" idx="11"/>
          </p:nvPr>
        </p:nvSpPr>
        <p:spPr>
          <a:xfrm>
            <a:off x="2743200" y="4767263"/>
            <a:ext cx="3657600" cy="273844"/>
          </a:xfrm>
        </p:spPr>
        <p:txBody>
          <a:bodyPr/>
          <a:lstStyle/>
          <a:p>
            <a:r>
              <a:rPr lang="en-US" dirty="0" smtClean="0"/>
              <a:t>Smart Horizon 2026: 48 Hour International Hackathon</a:t>
            </a:r>
            <a:endParaRPr lang="en-US" dirty="0"/>
          </a:p>
        </p:txBody>
      </p:sp>
      <p:pic>
        <p:nvPicPr>
          <p:cNvPr id="8" name="Picture 7" descr="01_main_dashboard.png"/>
          <p:cNvPicPr>
            <a:picLocks noChangeAspect="1"/>
          </p:cNvPicPr>
          <p:nvPr/>
        </p:nvPicPr>
        <p:blipFill>
          <a:blip r:embed="rId2"/>
          <a:stretch>
            <a:fillRect/>
          </a:stretch>
        </p:blipFill>
        <p:spPr>
          <a:xfrm>
            <a:off x="475488" y="1078992"/>
            <a:ext cx="3977639" cy="1691640"/>
          </a:xfrm>
          <a:prstGeom prst="rect">
            <a:avLst/>
          </a:prstGeom>
        </p:spPr>
      </p:pic>
      <p:sp>
        <p:nvSpPr>
          <p:cNvPr id="9" name="TextBox 8"/>
          <p:cNvSpPr txBox="1"/>
          <p:nvPr/>
        </p:nvSpPr>
        <p:spPr>
          <a:xfrm>
            <a:off x="475488" y="2788920"/>
            <a:ext cx="3977639" cy="228600"/>
          </a:xfrm>
          <a:prstGeom prst="rect">
            <a:avLst/>
          </a:prstGeom>
          <a:noFill/>
        </p:spPr>
        <p:txBody>
          <a:bodyPr wrap="none">
            <a:spAutoFit/>
          </a:bodyPr>
          <a:lstStyle/>
          <a:p>
            <a:pPr>
              <a:defRPr sz="850" b="1">
                <a:solidFill>
                  <a:srgbClr val="0F172A"/>
                </a:solidFill>
                <a:latin typeface="Times New Roman"/>
              </a:defRPr>
            </a:pPr>
            <a:r>
              <a:t>Figure 1: React 18 3D GIS Tactical Ground Station Dashboard</a:t>
            </a:r>
          </a:p>
        </p:txBody>
      </p:sp>
      <p:pic>
        <p:nvPicPr>
          <p:cNvPr id="10" name="Picture 9" descr="live_gazebo_sim8_running.png"/>
          <p:cNvPicPr>
            <a:picLocks noChangeAspect="1"/>
          </p:cNvPicPr>
          <p:nvPr/>
        </p:nvPicPr>
        <p:blipFill>
          <a:blip r:embed="rId3"/>
          <a:stretch>
            <a:fillRect/>
          </a:stretch>
        </p:blipFill>
        <p:spPr>
          <a:xfrm>
            <a:off x="4663440" y="1078992"/>
            <a:ext cx="3977639" cy="1691640"/>
          </a:xfrm>
          <a:prstGeom prst="rect">
            <a:avLst/>
          </a:prstGeom>
        </p:spPr>
      </p:pic>
      <p:sp>
        <p:nvSpPr>
          <p:cNvPr id="11" name="TextBox 10"/>
          <p:cNvSpPr txBox="1"/>
          <p:nvPr/>
        </p:nvSpPr>
        <p:spPr>
          <a:xfrm>
            <a:off x="4663440" y="2788920"/>
            <a:ext cx="3977639" cy="228600"/>
          </a:xfrm>
          <a:prstGeom prst="rect">
            <a:avLst/>
          </a:prstGeom>
          <a:noFill/>
        </p:spPr>
        <p:txBody>
          <a:bodyPr wrap="none">
            <a:spAutoFit/>
          </a:bodyPr>
          <a:lstStyle/>
          <a:p>
            <a:pPr>
              <a:defRPr sz="850" b="1">
                <a:solidFill>
                  <a:srgbClr val="0F172A"/>
                </a:solidFill>
                <a:latin typeface="Times New Roman"/>
              </a:defRPr>
            </a:pPr>
            <a:r>
              <a:t>Figure 2: Gazebo Sim 8 5-UAV Disaster Flood Digital Twin</a:t>
            </a:r>
          </a:p>
        </p:txBody>
      </p:sp>
      <p:pic>
        <p:nvPicPr>
          <p:cNvPr id="12" name="Picture 11" descr="03_pfd_hud_display.png"/>
          <p:cNvPicPr>
            <a:picLocks noChangeAspect="1"/>
          </p:cNvPicPr>
          <p:nvPr/>
        </p:nvPicPr>
        <p:blipFill>
          <a:blip r:embed="rId4"/>
          <a:stretch>
            <a:fillRect/>
          </a:stretch>
        </p:blipFill>
        <p:spPr>
          <a:xfrm>
            <a:off x="475488" y="2999232"/>
            <a:ext cx="3977639" cy="1691640"/>
          </a:xfrm>
          <a:prstGeom prst="rect">
            <a:avLst/>
          </a:prstGeom>
        </p:spPr>
      </p:pic>
      <p:sp>
        <p:nvSpPr>
          <p:cNvPr id="13" name="TextBox 12"/>
          <p:cNvSpPr txBox="1"/>
          <p:nvPr/>
        </p:nvSpPr>
        <p:spPr>
          <a:xfrm>
            <a:off x="475488" y="4709160"/>
            <a:ext cx="3977639" cy="201168"/>
          </a:xfrm>
          <a:prstGeom prst="rect">
            <a:avLst/>
          </a:prstGeom>
          <a:noFill/>
        </p:spPr>
        <p:txBody>
          <a:bodyPr wrap="none">
            <a:spAutoFit/>
          </a:bodyPr>
          <a:lstStyle/>
          <a:p>
            <a:pPr>
              <a:defRPr sz="850" b="1">
                <a:solidFill>
                  <a:srgbClr val="0F172A"/>
                </a:solidFill>
                <a:latin typeface="Times New Roman"/>
              </a:defRPr>
            </a:pPr>
            <a:r>
              <a:t>Figure 3: WebGPU Primary Flight Display (PFD) HUD Instrumentation</a:t>
            </a:r>
          </a:p>
        </p:txBody>
      </p:sp>
      <p:pic>
        <p:nvPicPr>
          <p:cNvPr id="14" name="Picture 13" descr="06_geofence_manager.png"/>
          <p:cNvPicPr>
            <a:picLocks noChangeAspect="1"/>
          </p:cNvPicPr>
          <p:nvPr/>
        </p:nvPicPr>
        <p:blipFill>
          <a:blip r:embed="rId5"/>
          <a:stretch>
            <a:fillRect/>
          </a:stretch>
        </p:blipFill>
        <p:spPr>
          <a:xfrm>
            <a:off x="4663440" y="2999232"/>
            <a:ext cx="3977639" cy="1691640"/>
          </a:xfrm>
          <a:prstGeom prst="rect">
            <a:avLst/>
          </a:prstGeom>
        </p:spPr>
      </p:pic>
      <p:sp>
        <p:nvSpPr>
          <p:cNvPr id="15" name="TextBox 14"/>
          <p:cNvSpPr txBox="1"/>
          <p:nvPr/>
        </p:nvSpPr>
        <p:spPr>
          <a:xfrm>
            <a:off x="4663440" y="4709160"/>
            <a:ext cx="3977639" cy="201168"/>
          </a:xfrm>
          <a:prstGeom prst="rect">
            <a:avLst/>
          </a:prstGeom>
          <a:noFill/>
        </p:spPr>
        <p:txBody>
          <a:bodyPr wrap="none">
            <a:spAutoFit/>
          </a:bodyPr>
          <a:lstStyle/>
          <a:p>
            <a:pPr>
              <a:defRPr sz="850" b="1">
                <a:solidFill>
                  <a:srgbClr val="0F172A"/>
                </a:solidFill>
                <a:latin typeface="Times New Roman"/>
              </a:defRPr>
            </a:pPr>
            <a:r>
              <a:t>Figure 4: Enterprise 3D Geofence Breach Radar &amp; Red Zone Failsafes</a:t>
            </a:r>
          </a:p>
        </p:txBody>
      </p:sp>
    </p:spTree>
    <p:extLst>
      <p:ext uri="{BB962C8B-B14F-4D97-AF65-F5344CB8AC3E}">
        <p14:creationId xmlns:p14="http://schemas.microsoft.com/office/powerpoint/2010/main" val="26409872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73945" y="372370"/>
            <a:ext cx="4787949" cy="445442"/>
          </a:xfrm>
          <a:prstGeom prst="rect">
            <a:avLst/>
          </a:prstGeom>
          <a:noFill/>
          <a:ln/>
        </p:spPr>
        <p:txBody>
          <a:bodyPr wrap="none" lIns="0" tIns="0" rIns="0" bIns="0" rtlCol="0" anchor="t"/>
          <a:lstStyle/>
          <a:p>
            <a:pPr defTabSz="640048">
              <a:lnSpc>
                <a:spcPts val="3920"/>
              </a:lnSpc>
            </a:pPr>
            <a:r>
              <a:rPr lang="en-US" sz="2400" b="1" dirty="0" smtClean="0">
                <a:solidFill>
                  <a:schemeClr val="accent1">
                    <a:lumMod val="75000"/>
                  </a:schemeClr>
                </a:solidFill>
                <a:latin typeface="Times New Roman" panose="02020603050405020304" pitchFamily="18" charset="0"/>
                <a:ea typeface="Barlow Bold" pitchFamily="34" charset="-122"/>
                <a:cs typeface="Times New Roman" panose="02020603050405020304" pitchFamily="18" charset="0"/>
              </a:rPr>
              <a:t>Future Enhancements</a:t>
            </a:r>
            <a:endParaRPr lang="en-US" sz="2400"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Text 1"/>
          <p:cNvSpPr/>
          <p:nvPr/>
        </p:nvSpPr>
        <p:spPr>
          <a:xfrm>
            <a:off x="473943" y="1078992"/>
            <a:ext cx="8196114" cy="3493008"/>
          </a:xfrm>
          <a:prstGeom prst="rect">
            <a:avLst/>
          </a:prstGeom>
          <a:noFill/>
          <a:ln/>
        </p:spPr>
        <p:txBody>
          <a:bodyPr wrap="square" lIns="73152" tIns="73152" rIns="73152" bIns="73152" rtlCol="0" anchor="t"/>
          <a:lstStyle/>
          <a:p>
            <a:pPr marL="240018" indent="-240018" defTabSz="640048">
              <a:lnSpc>
                <a:spcPct val="115000"/>
              </a:lnSpc>
              <a:spcAft>
                <a:spcPts val="400"/>
              </a:spcAft>
              <a:buSzPct val="100000"/>
              <a:buFontTx/>
              <a:buChar char="•"/>
            </a:pPr>
            <a:r>
              <a:rPr b="1" sz="1100">
                <a:solidFill>
                  <a:srgbClr val="0F172A"/>
                </a:solidFill>
                <a:latin typeface="Times New Roman"/>
              </a:rPr>
              <a:t>• Phase 1 — Autonomous UGV Air-Ground Teamwork: </a:t>
            </a:r>
            <a:r>
              <a:rPr b="0" sz="1100">
                <a:solidFill>
                  <a:srgbClr val="1E293B"/>
                </a:solidFill>
                <a:latin typeface="Times New Roman"/>
              </a:rPr>
              <a:t>Collaborative docking and automated battery hot-swapping on uncrewed ground vehicles (UGVs) to enable 24/7 continuous perimeter search without human battery handlers.</a:t>
            </a:r>
            <a:endParaRPr lang="en-US" sz="1200" dirty="0">
              <a:solidFill>
                <a:prstClr val="black"/>
              </a:solidFill>
            </a:endParaRPr>
          </a:p>
          <a:p>
            <a:pPr>
              <a:lnSpc>
                <a:spcPct val="115000"/>
              </a:lnSpc>
              <a:spcAft>
                <a:spcPts val="400"/>
              </a:spcAft>
            </a:pPr>
            <a:r>
              <a:rPr b="1" sz="1100">
                <a:solidFill>
                  <a:srgbClr val="0F172A"/>
                </a:solidFill>
                <a:latin typeface="Times New Roman"/>
              </a:rPr>
              <a:t>• Phase 2 — Cognitive Multi-Band Frequency Hopping: </a:t>
            </a:r>
            <a:r>
              <a:rPr b="0" sz="1100">
                <a:solidFill>
                  <a:srgbClr val="1E293B"/>
                </a:solidFill>
                <a:latin typeface="Times New Roman"/>
              </a:rPr>
              <a:t>Real-time spectrum sensing and dynamic hopping across 433MHz, 868MHz, 2.4GHz, and 5.8GHz channels to actively evade intelligent adversarial jamming in hostile electronic warfare.</a:t>
            </a:r>
          </a:p>
          <a:p>
            <a:pPr>
              <a:lnSpc>
                <a:spcPct val="115000"/>
              </a:lnSpc>
              <a:spcAft>
                <a:spcPts val="400"/>
              </a:spcAft>
            </a:pPr>
            <a:r>
              <a:rPr b="1" sz="1100">
                <a:solidFill>
                  <a:srgbClr val="0F172A"/>
                </a:solidFill>
                <a:latin typeface="Times New Roman"/>
              </a:rPr>
              <a:t>• Phase 3 — Acoustic Rubble Victim Localization: </a:t>
            </a:r>
            <a:r>
              <a:rPr b="0" sz="1100">
                <a:solidFill>
                  <a:srgbClr val="1E293B"/>
                </a:solidFill>
                <a:latin typeface="Times New Roman"/>
              </a:rPr>
              <a:t>Integrating quad-MEMS microphone arrays on companion SBCs running beamforming acoustic algorithms to detect and geolocate trapped human cries and tapping under concrete rubble.</a:t>
            </a:r>
          </a:p>
          <a:p>
            <a:pPr>
              <a:lnSpc>
                <a:spcPct val="115000"/>
              </a:lnSpc>
              <a:spcAft>
                <a:spcPts val="400"/>
              </a:spcAft>
            </a:pPr>
            <a:r>
              <a:rPr b="1" sz="1100">
                <a:solidFill>
                  <a:srgbClr val="0F172A"/>
                </a:solidFill>
                <a:latin typeface="Times New Roman"/>
              </a:rPr>
              <a:t>• Phase 4 — Biometric Thermal Vital Signs Extraction: </a:t>
            </a:r>
            <a:r>
              <a:rPr b="0" sz="1100">
                <a:solidFill>
                  <a:srgbClr val="1E293B"/>
                </a:solidFill>
                <a:latin typeface="Times New Roman"/>
              </a:rPr>
              <a:t>Micro-motion Doppler radar processing combined with thermal radiometric pulsation analysis to assess victim heart rate and respiration triage status before rescue squad arrival.</a:t>
            </a:r>
          </a:p>
          <a:p>
            <a:pPr>
              <a:lnSpc>
                <a:spcPct val="115000"/>
              </a:lnSpc>
              <a:spcAft>
                <a:spcPts val="400"/>
              </a:spcAft>
            </a:pPr>
            <a:r>
              <a:rPr b="1" sz="1100">
                <a:solidFill>
                  <a:srgbClr val="0F172A"/>
                </a:solidFill>
                <a:latin typeface="Times New Roman"/>
              </a:rPr>
              <a:t>• Phase 5 — Physical Swarm DGCA Green-Zone Flight Validation: </a:t>
            </a:r>
            <a:r>
              <a:rPr b="0" sz="1100">
                <a:solidFill>
                  <a:srgbClr val="1E293B"/>
                </a:solidFill>
                <a:latin typeface="Times New Roman"/>
              </a:rPr>
              <a:t>Transitioning from Gazebo Sim 8 digital twin to a fleet of 5 physical Pixhawk 6C carbon-fiber quadcopters with certified field trials conducted alongside NDRF Battalions.</a:t>
            </a:r>
          </a:p>
        </p:txBody>
      </p:sp>
      <p:sp>
        <p:nvSpPr>
          <p:cNvPr id="4" name="Date Placeholder 3"/>
          <p:cNvSpPr>
            <a:spLocks noGrp="1"/>
          </p:cNvSpPr>
          <p:nvPr>
            <p:ph type="dt" sz="half" idx="10"/>
          </p:nvPr>
        </p:nvSpPr>
        <p:spPr/>
        <p:txBody>
          <a:bodyPr/>
          <a:lstStyle/>
          <a:p>
            <a:r>
              <a:t>05 September 2026</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12</a:t>
            </a:fld>
            <a:endParaRPr lang="en-US"/>
          </a:p>
        </p:txBody>
      </p:sp>
      <p:sp>
        <p:nvSpPr>
          <p:cNvPr id="7" name="Footer Placeholder 7"/>
          <p:cNvSpPr>
            <a:spLocks noGrp="1"/>
          </p:cNvSpPr>
          <p:nvPr>
            <p:ph type="ftr" sz="quarter" idx="11"/>
          </p:nvPr>
        </p:nvSpPr>
        <p:spPr>
          <a:xfrm>
            <a:off x="2743200" y="4767263"/>
            <a:ext cx="3657600" cy="273844"/>
          </a:xfrm>
        </p:spPr>
        <p:txBody>
          <a:bodyPr/>
          <a:lstStyle/>
          <a:p>
            <a:r>
              <a:rPr lang="en-US" dirty="0" smtClean="0"/>
              <a:t>Smart Horizon 2026: 48 Hour International Hackathon</a:t>
            </a:r>
            <a:endParaRPr lang="en-US" dirty="0"/>
          </a:p>
        </p:txBody>
      </p:sp>
    </p:spTree>
    <p:extLst>
      <p:ext uri="{BB962C8B-B14F-4D97-AF65-F5344CB8AC3E}">
        <p14:creationId xmlns:p14="http://schemas.microsoft.com/office/powerpoint/2010/main" val="2544511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73945" y="372370"/>
            <a:ext cx="4787949" cy="445442"/>
          </a:xfrm>
          <a:prstGeom prst="rect">
            <a:avLst/>
          </a:prstGeom>
          <a:noFill/>
          <a:ln/>
        </p:spPr>
        <p:txBody>
          <a:bodyPr wrap="none" lIns="0" tIns="0" rIns="0" bIns="0" rtlCol="0" anchor="t"/>
          <a:lstStyle/>
          <a:p>
            <a:pPr defTabSz="640048">
              <a:lnSpc>
                <a:spcPts val="3920"/>
              </a:lnSpc>
            </a:pPr>
            <a:r>
              <a:rPr lang="en-US" sz="2400" b="1" dirty="0">
                <a:solidFill>
                  <a:schemeClr val="accent1">
                    <a:lumMod val="75000"/>
                  </a:schemeClr>
                </a:solidFill>
                <a:latin typeface="Times New Roman" panose="02020603050405020304" pitchFamily="18" charset="0"/>
                <a:ea typeface="Barlow Bold" pitchFamily="34" charset="-122"/>
                <a:cs typeface="Times New Roman" panose="02020603050405020304" pitchFamily="18" charset="0"/>
              </a:rPr>
              <a:t>Conclusion</a:t>
            </a:r>
            <a:endParaRPr lang="en-US" sz="2400"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Text 1"/>
          <p:cNvSpPr/>
          <p:nvPr/>
        </p:nvSpPr>
        <p:spPr>
          <a:xfrm>
            <a:off x="473943" y="1078992"/>
            <a:ext cx="8196114" cy="3493008"/>
          </a:xfrm>
          <a:prstGeom prst="rect">
            <a:avLst/>
          </a:prstGeom>
          <a:noFill/>
          <a:ln/>
        </p:spPr>
        <p:txBody>
          <a:bodyPr wrap="square" lIns="73152" tIns="73152" rIns="73152" bIns="73152" rtlCol="0" anchor="t"/>
          <a:lstStyle/>
          <a:p>
            <a:pPr marL="240018" indent="-240018" defTabSz="640048">
              <a:lnSpc>
                <a:spcPct val="115000"/>
              </a:lnSpc>
              <a:spcAft>
                <a:spcPts val="400"/>
              </a:spcAft>
              <a:buSzPct val="100000"/>
              <a:buFontTx/>
              <a:buChar char="•"/>
            </a:pPr>
            <a:r>
              <a:rPr b="1" sz="1100">
                <a:solidFill>
                  <a:srgbClr val="0F172A"/>
                </a:solidFill>
                <a:latin typeface="Times New Roman"/>
              </a:rPr>
              <a:t>• Complete Physical AI Architecture: </a:t>
            </a:r>
            <a:r>
              <a:rPr b="0" sz="1100">
                <a:solidFill>
                  <a:srgbClr val="1E293B"/>
                </a:solidFill>
                <a:latin typeface="Times New Roman"/>
              </a:rPr>
              <a:t>Project SUTRA successfully conquers the three fatal bottlenecks of tactical disaster reconnaissance: GPS blackout, communication jamming, and single-drone operational fragility.</a:t>
            </a:r>
            <a:endParaRPr lang="en-US" sz="1200" dirty="0">
              <a:solidFill>
                <a:prstClr val="black"/>
              </a:solidFill>
            </a:endParaRPr>
          </a:p>
          <a:p>
            <a:pPr>
              <a:lnSpc>
                <a:spcPct val="115000"/>
              </a:lnSpc>
              <a:spcAft>
                <a:spcPts val="400"/>
              </a:spcAft>
            </a:pPr>
            <a:r>
              <a:rPr b="1" sz="1100">
                <a:solidFill>
                  <a:srgbClr val="0F172A"/>
                </a:solidFill>
                <a:latin typeface="Times New Roman"/>
              </a:rPr>
              <a:t>• Rigorous Empirical Verification (Zero-Mock): </a:t>
            </a:r>
            <a:r>
              <a:rPr b="0" sz="1100">
                <a:solidFill>
                  <a:srgbClr val="1E293B"/>
                </a:solidFill>
                <a:latin typeface="Times New Roman"/>
              </a:rPr>
              <a:t>Backed by 232 deterministic passing tests, Gazebo Sim 8 digital twins, and realistic SWaP-C power/weight budgets (1,450g AUW, 20-min endurance, 3.25:1 thrust-to-weight ratio).</a:t>
            </a:r>
          </a:p>
          <a:p>
            <a:pPr>
              <a:lnSpc>
                <a:spcPct val="115000"/>
              </a:lnSpc>
              <a:spcAft>
                <a:spcPts val="400"/>
              </a:spcAft>
            </a:pPr>
            <a:r>
              <a:rPr b="1" sz="1100">
                <a:solidFill>
                  <a:srgbClr val="0F172A"/>
                </a:solidFill>
                <a:latin typeface="Times New Roman"/>
              </a:rPr>
              <a:t>• Sovereign Autonomy &amp; Radical Unit Economics: </a:t>
            </a:r>
            <a:r>
              <a:rPr b="0" sz="1100">
                <a:solidFill>
                  <a:srgbClr val="1E293B"/>
                </a:solidFill>
                <a:latin typeface="Times New Roman"/>
              </a:rPr>
              <a:t>Built from open-source principles for just ₹42,850 per UAV—delivering an entire 5-drone collaborative swarm for less than 15% of the cost of a single commercial enterprise drone.</a:t>
            </a:r>
          </a:p>
          <a:p>
            <a:pPr>
              <a:lnSpc>
                <a:spcPct val="115000"/>
              </a:lnSpc>
              <a:spcAft>
                <a:spcPts val="400"/>
              </a:spcAft>
            </a:pPr>
            <a:r>
              <a:rPr b="1" sz="1100">
                <a:solidFill>
                  <a:srgbClr val="0F172A"/>
                </a:solidFill>
                <a:latin typeface="Times New Roman"/>
              </a:rPr>
              <a:t>• Seamless Institutional &amp; Statutory Fit: </a:t>
            </a:r>
            <a:r>
              <a:rPr b="0" sz="1100">
                <a:solidFill>
                  <a:srgbClr val="1E293B"/>
                </a:solidFill>
                <a:latin typeface="Times New Roman"/>
              </a:rPr>
              <a:t>Engineered around the NDMA Incident Response System (IRS), UN INSARAG ASR standards (98% time compression), and DGCA Rule 50 emergency BVLOS regulations.</a:t>
            </a:r>
          </a:p>
          <a:p>
            <a:pPr>
              <a:lnSpc>
                <a:spcPct val="115000"/>
              </a:lnSpc>
              <a:spcAft>
                <a:spcPts val="400"/>
              </a:spcAft>
            </a:pPr>
            <a:r>
              <a:rPr b="1" sz="1100">
                <a:solidFill>
                  <a:srgbClr val="0F172A"/>
                </a:solidFill>
                <a:latin typeface="Times New Roman"/>
              </a:rPr>
              <a:t>• Operational Readiness to Save Lives: </a:t>
            </a:r>
            <a:r>
              <a:rPr b="0" sz="1100">
                <a:solidFill>
                  <a:srgbClr val="1E293B"/>
                </a:solidFill>
                <a:latin typeface="Times New Roman"/>
              </a:rPr>
              <a:t>SUTRA empowers India's first responders to find and extract survivors faster, safer, and cheaper during the critical Golden 72 Hours. SUTRA saves lives.</a:t>
            </a:r>
          </a:p>
        </p:txBody>
      </p:sp>
      <p:sp>
        <p:nvSpPr>
          <p:cNvPr id="4" name="Date Placeholder 3"/>
          <p:cNvSpPr>
            <a:spLocks noGrp="1"/>
          </p:cNvSpPr>
          <p:nvPr>
            <p:ph type="dt" sz="half" idx="10"/>
          </p:nvPr>
        </p:nvSpPr>
        <p:spPr/>
        <p:txBody>
          <a:bodyPr/>
          <a:lstStyle/>
          <a:p>
            <a:r>
              <a:t>05 September 2026</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13</a:t>
            </a:fld>
            <a:endParaRPr lang="en-US"/>
          </a:p>
        </p:txBody>
      </p:sp>
      <p:sp>
        <p:nvSpPr>
          <p:cNvPr id="10" name="Footer Placeholder 7"/>
          <p:cNvSpPr>
            <a:spLocks noGrp="1"/>
          </p:cNvSpPr>
          <p:nvPr>
            <p:ph type="ftr" sz="quarter" idx="11"/>
          </p:nvPr>
        </p:nvSpPr>
        <p:spPr>
          <a:xfrm>
            <a:off x="2743200" y="4767263"/>
            <a:ext cx="3657600" cy="273844"/>
          </a:xfrm>
        </p:spPr>
        <p:txBody>
          <a:bodyPr/>
          <a:lstStyle/>
          <a:p>
            <a:r>
              <a:rPr lang="en-US" dirty="0" smtClean="0"/>
              <a:t>Smart Horizon 2026: 48 Hour International Hackathon</a:t>
            </a:r>
            <a:endParaRPr lang="en-US" dirty="0"/>
          </a:p>
        </p:txBody>
      </p:sp>
    </p:spTree>
    <p:extLst>
      <p:ext uri="{BB962C8B-B14F-4D97-AF65-F5344CB8AC3E}">
        <p14:creationId xmlns:p14="http://schemas.microsoft.com/office/powerpoint/2010/main" val="16272233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65760"/>
            <a:ext cx="8229600" cy="822960"/>
          </a:xfrm>
        </p:spPr>
        <p:txBody>
          <a:bodyPr/>
          <a:lstStyle/>
          <a:p>
            <a:pPr algn="ctr"/>
            <a:r>
              <a:rPr sz="4000" b="1">
                <a:solidFill>
                  <a:srgbClr val="0F172A"/>
                </a:solidFill>
                <a:latin typeface="Times New Roman"/>
              </a:rPr>
              <a:t>Thank You</a:t>
            </a:r>
            <a:endParaRPr lang="en-US"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Date Placeholder 2"/>
          <p:cNvSpPr>
            <a:spLocks noGrp="1"/>
          </p:cNvSpPr>
          <p:nvPr>
            <p:ph type="dt" sz="half" idx="10"/>
          </p:nvPr>
        </p:nvSpPr>
        <p:spPr/>
        <p:txBody>
          <a:bodyPr/>
          <a:lstStyle/>
          <a:p>
            <a:r>
              <a:t>05 September 2026</a:t>
            </a:r>
          </a:p>
        </p:txBody>
      </p:sp>
      <p:sp>
        <p:nvSpPr>
          <p:cNvPr id="5" name="Slide Number Placeholder 4"/>
          <p:cNvSpPr>
            <a:spLocks noGrp="1"/>
          </p:cNvSpPr>
          <p:nvPr>
            <p:ph type="sldNum" sz="quarter" idx="12"/>
          </p:nvPr>
        </p:nvSpPr>
        <p:spPr/>
        <p:txBody>
          <a:bodyPr/>
          <a:lstStyle/>
          <a:p>
            <a:fld id="{B6F15528-21DE-4FAA-801E-634DDDAF4B2B}" type="slidenum">
              <a:rPr lang="en-US" smtClean="0"/>
              <a:pPr/>
              <a:t>14</a:t>
            </a:fld>
            <a:endParaRPr lang="en-US"/>
          </a:p>
        </p:txBody>
      </p:sp>
      <p:sp>
        <p:nvSpPr>
          <p:cNvPr id="9" name="Footer Placeholder 7"/>
          <p:cNvSpPr>
            <a:spLocks noGrp="1"/>
          </p:cNvSpPr>
          <p:nvPr>
            <p:ph type="ftr" sz="quarter" idx="11"/>
          </p:nvPr>
        </p:nvSpPr>
        <p:spPr>
          <a:xfrm>
            <a:off x="2743200" y="4767263"/>
            <a:ext cx="3657600" cy="273844"/>
          </a:xfrm>
        </p:spPr>
        <p:txBody>
          <a:bodyPr/>
          <a:lstStyle/>
          <a:p>
            <a:r>
              <a:rPr lang="en-US" dirty="0" smtClean="0"/>
              <a:t>Smart Horizon 2026: 48 Hour International Hackathon</a:t>
            </a:r>
            <a:endParaRPr lang="en-US" dirty="0"/>
          </a:p>
        </p:txBody>
      </p:sp>
      <p:sp>
        <p:nvSpPr>
          <p:cNvPr id="10" name="TextBox 9"/>
          <p:cNvSpPr txBox="1"/>
          <p:nvPr/>
        </p:nvSpPr>
        <p:spPr>
          <a:xfrm>
            <a:off x="457200" y="1783080"/>
            <a:ext cx="8229600" cy="2788920"/>
          </a:xfrm>
          <a:prstGeom prst="rect">
            <a:avLst/>
          </a:prstGeom>
          <a:noFill/>
        </p:spPr>
        <p:txBody>
          <a:bodyPr wrap="square">
            <a:spAutoFit/>
          </a:bodyPr>
          <a:lstStyle/>
          <a:p>
            <a:pPr algn="ctr">
              <a:spcAft>
                <a:spcPts val="400"/>
              </a:spcAft>
            </a:pPr>
            <a:r>
              <a:rPr sz="1600" b="1">
                <a:solidFill>
                  <a:srgbClr val="0E7490"/>
                </a:solidFill>
                <a:latin typeface="Times New Roman"/>
              </a:rPr>
              <a:t>Project SUTRA — Swarm Unified Tactical Reconnaissance Architecture</a:t>
            </a:r>
          </a:p>
          <a:p>
            <a:pPr algn="ctr">
              <a:lnSpc>
                <a:spcPct val="120000"/>
              </a:lnSpc>
              <a:spcBef>
                <a:spcPts val="600"/>
              </a:spcBef>
              <a:spcAft>
                <a:spcPts val="1200"/>
              </a:spcAft>
            </a:pPr>
            <a:r>
              <a:rPr sz="1200">
                <a:solidFill>
                  <a:srgbClr val="1E293B"/>
                </a:solidFill>
                <a:latin typeface="Times New Roman"/>
              </a:rPr>
              <a:t>Problem Statement: SH-DST-05  |  Track: Defence &amp; SpaceTech (DST)
Team ID: SHIH26-TID-361  |  New Horizon College of Engineering (NHCE), Bengaluru</a:t>
            </a:r>
          </a:p>
          <a:p>
            <a:pPr algn="ctr">
              <a:spcBef>
                <a:spcPts val="600"/>
              </a:spcBef>
              <a:spcAft>
                <a:spcPts val="300"/>
              </a:spcAft>
            </a:pPr>
            <a:r>
              <a:rPr sz="1200" b="1">
                <a:solidFill>
                  <a:srgbClr val="0F172A"/>
                </a:solidFill>
                <a:latin typeface="Times New Roman"/>
              </a:rPr>
              <a:t>Grand Finals Project Team:</a:t>
            </a:r>
          </a:p>
          <a:p>
            <a:pPr algn="ctr">
              <a:spcAft>
                <a:spcPts val="1600"/>
              </a:spcAft>
            </a:pPr>
            <a:r>
              <a:rPr sz="1250" b="1">
                <a:solidFill>
                  <a:srgbClr val="0E7490"/>
                </a:solidFill>
                <a:latin typeface="Times New Roman"/>
              </a:rPr>
              <a:t>Nikhil (Team Lead)  •  Vedanth Sai Ram  •  Siva Kesava  •  Harika  •  Rohith Kumar</a:t>
            </a:r>
          </a:p>
          <a:p>
            <a:pPr algn="ctr">
              <a:spcBef>
                <a:spcPts val="800"/>
              </a:spcBef>
              <a:spcAft>
                <a:spcPts val="400"/>
              </a:spcAft>
            </a:pPr>
            <a:r>
              <a:rPr sz="1150" i="1">
                <a:solidFill>
                  <a:srgbClr val="475569"/>
                </a:solidFill>
                <a:latin typeface="Times New Roman"/>
              </a:rPr>
              <a:t>We welcome questions from the jury and warmly invite you to inspect our
live Gazebo Sim 8 digital twin, WebGPU GCS &amp; 255-test verification suite (100% Deterministic Pass).</a:t>
            </a:r>
          </a:p>
          <a:p>
            <a:pPr>
              <a:defRPr b="1"/>
            </a:pPr>
            <a:r>
              <a:t>Public GitHub Repository: https://github.com/nikhil49023/SUTRA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185</TotalTime>
  <Words>282</Words>
  <Application>Microsoft Office PowerPoint</Application>
  <PresentationFormat>On-screen Show (16:9)</PresentationFormat>
  <Paragraphs>87</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Barlow Bold</vt:lpstr>
      <vt:lpstr>Calibri</vt:lpstr>
      <vt:lpstr>Montserrat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Suchith</dc:creator>
  <cp:lastModifiedBy>Admin</cp:lastModifiedBy>
  <cp:revision>20</cp:revision>
  <dcterms:created xsi:type="dcterms:W3CDTF">2006-08-16T00:00:00Z</dcterms:created>
  <dcterms:modified xsi:type="dcterms:W3CDTF">2026-08-31T11:33:38Z</dcterms:modified>
</cp:coreProperties>
</file>